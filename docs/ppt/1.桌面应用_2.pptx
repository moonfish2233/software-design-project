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1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9"/>
  </p:notesMasterIdLst>
  <p:handoutMasterIdLst>
    <p:handoutMasterId r:id="rId50"/>
  </p:handoutMasterIdLst>
  <p:sldIdLst>
    <p:sldId id="256" r:id="rId3"/>
    <p:sldId id="802" r:id="rId4"/>
    <p:sldId id="710" r:id="rId5"/>
    <p:sldId id="711" r:id="rId6"/>
    <p:sldId id="714" r:id="rId7"/>
    <p:sldId id="713" r:id="rId8"/>
    <p:sldId id="717" r:id="rId9"/>
    <p:sldId id="718" r:id="rId10"/>
    <p:sldId id="719" r:id="rId11"/>
    <p:sldId id="716" r:id="rId12"/>
    <p:sldId id="722" r:id="rId13"/>
    <p:sldId id="723" r:id="rId14"/>
    <p:sldId id="724" r:id="rId15"/>
    <p:sldId id="725" r:id="rId16"/>
    <p:sldId id="726" r:id="rId17"/>
    <p:sldId id="728" r:id="rId18"/>
    <p:sldId id="729" r:id="rId19"/>
    <p:sldId id="730" r:id="rId20"/>
    <p:sldId id="770" r:id="rId21"/>
    <p:sldId id="731" r:id="rId22"/>
    <p:sldId id="732" r:id="rId23"/>
    <p:sldId id="733" r:id="rId24"/>
    <p:sldId id="734" r:id="rId25"/>
    <p:sldId id="735" r:id="rId26"/>
    <p:sldId id="736" r:id="rId27"/>
    <p:sldId id="737" r:id="rId28"/>
    <p:sldId id="739" r:id="rId29"/>
    <p:sldId id="803" r:id="rId30"/>
    <p:sldId id="745" r:id="rId31"/>
    <p:sldId id="746" r:id="rId32"/>
    <p:sldId id="747" r:id="rId33"/>
    <p:sldId id="742" r:id="rId34"/>
    <p:sldId id="743" r:id="rId35"/>
    <p:sldId id="744" r:id="rId36"/>
    <p:sldId id="804" r:id="rId37"/>
    <p:sldId id="749" r:id="rId38"/>
    <p:sldId id="759" r:id="rId39"/>
    <p:sldId id="758" r:id="rId40"/>
    <p:sldId id="750" r:id="rId41"/>
    <p:sldId id="751" r:id="rId42"/>
    <p:sldId id="752" r:id="rId43"/>
    <p:sldId id="754" r:id="rId44"/>
    <p:sldId id="766" r:id="rId45"/>
    <p:sldId id="753" r:id="rId46"/>
    <p:sldId id="769" r:id="rId47"/>
    <p:sldId id="808" r:id="rId48"/>
  </p:sldIdLst>
  <p:sldSz cx="12192000" cy="6858000"/>
  <p:notesSz cx="6858000" cy="9144000"/>
  <p:custDataLst>
    <p:tags r:id="rId56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94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3300"/>
    <a:srgbClr val="99CCFF"/>
    <a:srgbClr val="FF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7"/>
    <p:restoredTop sz="86352"/>
  </p:normalViewPr>
  <p:slideViewPr>
    <p:cSldViewPr showGuides="1">
      <p:cViewPr varScale="1">
        <p:scale>
          <a:sx n="109" d="100"/>
          <a:sy n="109" d="100"/>
        </p:scale>
        <p:origin x="216" y="256"/>
      </p:cViewPr>
      <p:guideLst>
        <p:guide orient="horz" pos="2159"/>
        <p:guide pos="3949"/>
      </p:guideLst>
    </p:cSldViewPr>
  </p:slideViewPr>
  <p:outlineViewPr>
    <p:cViewPr>
      <p:scale>
        <a:sx n="33" d="100"/>
        <a:sy n="33" d="100"/>
      </p:scale>
      <p:origin x="0" y="222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6" Type="http://schemas.openxmlformats.org/officeDocument/2006/relationships/tags" Target="tags/tag2.xml"/><Relationship Id="rId55" Type="http://schemas.openxmlformats.org/officeDocument/2006/relationships/customXml" Target="../customXml/item1.xml"/><Relationship Id="rId54" Type="http://schemas.openxmlformats.org/officeDocument/2006/relationships/customXmlProps" Target="../customXml/itemProps1.xml"/><Relationship Id="rId53" Type="http://schemas.openxmlformats.org/officeDocument/2006/relationships/tableStyles" Target="tableStyles.xml"/><Relationship Id="rId52" Type="http://schemas.openxmlformats.org/officeDocument/2006/relationships/viewProps" Target="viewProps.xml"/><Relationship Id="rId51" Type="http://schemas.openxmlformats.org/officeDocument/2006/relationships/presProps" Target="presProps.xml"/><Relationship Id="rId50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49" Type="http://schemas.openxmlformats.org/officeDocument/2006/relationships/notesMaster" Target="notesMasters/notesMaster1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E119409-6C52-4574-BDC8-7D7A8A79503A}" type="datetimeFigureOut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22590AA-DB8C-4F5F-94DE-8AD7FEF8C5B9}" type="slidenum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/>
          <p:nvPr userDrawn="1"/>
        </p:nvGrpSpPr>
        <p:grpSpPr>
          <a:xfrm>
            <a:off x="0" y="3155950"/>
            <a:ext cx="12012084" cy="1052513"/>
            <a:chOff x="0" y="1536"/>
            <a:chExt cx="5675" cy="663"/>
          </a:xfrm>
        </p:grpSpPr>
        <p:grpSp>
          <p:nvGrpSpPr>
            <p:cNvPr id="2056" name="Group 3"/>
            <p:cNvGrpSpPr/>
            <p:nvPr/>
          </p:nvGrpSpPr>
          <p:grpSpPr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20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2057" name="Group 6"/>
            <p:cNvGrpSpPr/>
            <p:nvPr/>
          </p:nvGrpSpPr>
          <p:grpSpPr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8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9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5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6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7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060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1320800" y="182880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061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22" name="Rectangle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320800" y="6248400"/>
            <a:ext cx="2540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kumimoji="0" sz="1400">
                <a:solidFill>
                  <a:schemeClr val="bg2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5720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kumimoji="0" sz="1400">
                <a:solidFill>
                  <a:schemeClr val="bg2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" name="Rectangle 1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144000" y="6248400"/>
            <a:ext cx="2540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0" sz="1400">
                <a:solidFill>
                  <a:schemeClr val="bg2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84003F8-76D8-40E2-8852-AD17ED6E1383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231245" y="-635"/>
            <a:ext cx="861060" cy="8839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06400" y="1371600"/>
            <a:ext cx="5638800" cy="5257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48400" y="1371600"/>
            <a:ext cx="5638800" cy="5257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1" lang="zh-CN" altLang="en-US" sz="3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017000" y="228600"/>
            <a:ext cx="2870200" cy="64008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06400" y="228600"/>
            <a:ext cx="8407400" cy="64008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 userDrawn="1"/>
        </p:nvSpPr>
        <p:spPr bwMode="ltGray">
          <a:xfrm>
            <a:off x="488951" y="168910"/>
            <a:ext cx="62230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7" name="Rectangle 3"/>
          <p:cNvSpPr>
            <a:spLocks noChangeArrowheads="1"/>
          </p:cNvSpPr>
          <p:nvPr userDrawn="1"/>
        </p:nvSpPr>
        <p:spPr bwMode="ltGray">
          <a:xfrm>
            <a:off x="999067" y="168910"/>
            <a:ext cx="465667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8" name="Rectangle 4"/>
          <p:cNvSpPr>
            <a:spLocks noChangeArrowheads="1"/>
          </p:cNvSpPr>
          <p:nvPr userDrawn="1"/>
        </p:nvSpPr>
        <p:spPr bwMode="ltGray">
          <a:xfrm>
            <a:off x="654051" y="591185"/>
            <a:ext cx="599017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ChangeArrowheads="1"/>
          </p:cNvSpPr>
          <p:nvPr userDrawn="1"/>
        </p:nvSpPr>
        <p:spPr bwMode="ltGray">
          <a:xfrm>
            <a:off x="1147233" y="591185"/>
            <a:ext cx="522817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ChangeArrowheads="1"/>
          </p:cNvSpPr>
          <p:nvPr userDrawn="1"/>
        </p:nvSpPr>
        <p:spPr bwMode="ltGray">
          <a:xfrm>
            <a:off x="304800" y="546735"/>
            <a:ext cx="747184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1" name="Rectangle 7"/>
          <p:cNvSpPr>
            <a:spLocks noChangeArrowheads="1"/>
          </p:cNvSpPr>
          <p:nvPr userDrawn="1"/>
        </p:nvSpPr>
        <p:spPr bwMode="gray">
          <a:xfrm>
            <a:off x="948267" y="60960"/>
            <a:ext cx="99484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2" name="Rectangle 8"/>
          <p:cNvSpPr>
            <a:spLocks noChangeArrowheads="1"/>
          </p:cNvSpPr>
          <p:nvPr userDrawn="1"/>
        </p:nvSpPr>
        <p:spPr bwMode="gray">
          <a:xfrm>
            <a:off x="522817" y="851535"/>
            <a:ext cx="11669184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545167" y="104775"/>
            <a:ext cx="9448800" cy="685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406400" y="1156335"/>
            <a:ext cx="11480800" cy="557974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1231245" y="-635"/>
            <a:ext cx="861060" cy="88392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华文新魏" panose="0201080004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华文新魏" panose="0201080004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华文新魏" panose="0201080004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华文新魏" panose="0201080004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华文新魏" panose="0201080004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华文新魏" panose="0201080004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华文新魏" panose="0201080004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华文新魏" panose="0201080004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kumimoji="1" sz="28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kumimoji="1" sz="2400" b="1">
          <a:solidFill>
            <a:schemeClr val="tx1"/>
          </a:solidFill>
          <a:latin typeface="+mn-lt"/>
          <a:ea typeface="仿宋_GB2312" panose="02010609030101010101" pitchFamily="49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kumimoji="1" sz="2400" b="1">
          <a:solidFill>
            <a:schemeClr val="tx1"/>
          </a:solidFill>
          <a:latin typeface="+mn-lt"/>
          <a:ea typeface="仿宋_GB2312" panose="02010609030101010101" pitchFamily="49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kumimoji="1" sz="2400" b="1">
          <a:solidFill>
            <a:schemeClr val="tx1"/>
          </a:solidFill>
          <a:latin typeface="+mn-lt"/>
          <a:ea typeface="仿宋_GB2312" panose="02010609030101010101" pitchFamily="49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400" b="1">
          <a:solidFill>
            <a:schemeClr val="tx1"/>
          </a:solidFill>
          <a:latin typeface="+mn-lt"/>
          <a:ea typeface="仿宋_GB2312" panose="02010609030101010101" pitchFamily="49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400" b="1">
          <a:solidFill>
            <a:schemeClr val="tx1"/>
          </a:solidFill>
          <a:latin typeface="+mn-lt"/>
          <a:ea typeface="仿宋_GB2312" panose="02010609030101010101" pitchFamily="49" charset="-122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400" b="1">
          <a:solidFill>
            <a:schemeClr val="tx1"/>
          </a:solidFill>
          <a:latin typeface="+mn-lt"/>
          <a:ea typeface="仿宋_GB2312" panose="02010609030101010101" pitchFamily="49" charset="-122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400" b="1">
          <a:solidFill>
            <a:schemeClr val="tx1"/>
          </a:solidFill>
          <a:latin typeface="+mn-lt"/>
          <a:ea typeface="仿宋_GB2312" panose="02010609030101010101" pitchFamily="49" charset="-122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400" b="1">
          <a:solidFill>
            <a:schemeClr val="tx1"/>
          </a:solidFill>
          <a:latin typeface="+mn-lt"/>
          <a:ea typeface="仿宋_GB2312" panose="02010609030101010101" pitchFamily="49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12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gitee.com/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1" Type="http://schemas.openxmlformats.org/officeDocument/2006/relationships/hyperlink" Target="https://git-scm.com/download/win" TargetMode="Externa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1" Type="http://schemas.openxmlformats.org/officeDocument/2006/relationships/hyperlink" Target="mailto:git@gitee.com" TargetMode="Externa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2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9.png"/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image" Target="../media/image36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0.png"/></Relationships>
</file>

<file path=ppt/slides/_rels/slide3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45.jpeg"/><Relationship Id="rId4" Type="http://schemas.openxmlformats.org/officeDocument/2006/relationships/image" Target="../media/image44.png"/><Relationship Id="rId3" Type="http://schemas.openxmlformats.org/officeDocument/2006/relationships/image" Target="../media/image43.png"/><Relationship Id="rId2" Type="http://schemas.openxmlformats.org/officeDocument/2006/relationships/image" Target="../media/image42.jpeg"/><Relationship Id="rId1" Type="http://schemas.openxmlformats.org/officeDocument/2006/relationships/image" Target="../media/image41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6.png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image" Target="../media/image47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0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1.jpe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2.jpe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3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4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5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6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7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9.png"/><Relationship Id="rId1" Type="http://schemas.openxmlformats.org/officeDocument/2006/relationships/image" Target="../media/image5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1.png"/><Relationship Id="rId1" Type="http://schemas.openxmlformats.org/officeDocument/2006/relationships/image" Target="../media/image60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2.jpe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1265" y="1317625"/>
            <a:ext cx="10690225" cy="2818765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8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ea"/>
                <a:ea typeface="+mj-ea"/>
                <a:cs typeface="+mj-cs"/>
              </a:rPr>
              <a:t>《软件</a:t>
            </a:r>
            <a:r>
              <a:rPr kumimoji="1" lang="zh-CN" altLang="en-US" sz="8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ea"/>
                <a:ea typeface="+mj-ea"/>
                <a:cs typeface="+mj-cs"/>
              </a:rPr>
              <a:t>设计》</a:t>
            </a:r>
            <a:br>
              <a:rPr kumimoji="1" lang="zh-CN" altLang="en-US" sz="8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ea"/>
                <a:ea typeface="+mj-ea"/>
                <a:cs typeface="+mj-cs"/>
              </a:rPr>
            </a:br>
            <a:r>
              <a:rPr kumimoji="1" lang="zh-CN" altLang="en-US" sz="6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ea"/>
                <a:ea typeface="+mj-ea"/>
                <a:cs typeface="+mj-cs"/>
              </a:rPr>
              <a:t>桌面应用：</a:t>
            </a:r>
            <a:r>
              <a:rPr kumimoji="1" lang="en-US" altLang="zh-CN" sz="6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ea"/>
                <a:ea typeface="+mj-ea"/>
                <a:cs typeface="+mj-cs"/>
              </a:rPr>
              <a:t>C</a:t>
            </a:r>
            <a:r>
              <a:rPr kumimoji="1" lang="zh-CN" altLang="en-US" sz="6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ea"/>
                <a:ea typeface="+mj-ea"/>
                <a:cs typeface="+mj-cs"/>
              </a:rPr>
              <a:t>端产品</a:t>
            </a:r>
            <a:r>
              <a:rPr kumimoji="1" lang="zh-CN" altLang="en-US" sz="6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ea"/>
                <a:ea typeface="+mj-ea"/>
                <a:cs typeface="+mj-cs"/>
              </a:rPr>
              <a:t>数据模拟器</a:t>
            </a:r>
            <a:endParaRPr kumimoji="1" lang="zh-CN" altLang="en-US" sz="6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ea"/>
              <a:ea typeface="+mj-ea"/>
              <a:cs typeface="+mj-cs"/>
            </a:endParaRPr>
          </a:p>
        </p:txBody>
      </p:sp>
      <p:sp>
        <p:nvSpPr>
          <p:cNvPr id="4099" name="Rectangle 3"/>
          <p:cNvSpPr>
            <a:spLocks noGrp="1"/>
          </p:cNvSpPr>
          <p:nvPr>
            <p:ph type="subTitle" idx="1"/>
          </p:nvPr>
        </p:nvSpPr>
        <p:spPr>
          <a:xfrm>
            <a:off x="3215323" y="4794885"/>
            <a:ext cx="5864225" cy="1990725"/>
          </a:xfrm>
        </p:spPr>
        <p:txBody>
          <a:bodyPr vert="horz" wrap="square" lIns="91440" tIns="45720" rIns="91440" bIns="45720" anchor="t"/>
          <a:lstStyle/>
          <a:p>
            <a:pPr algn="ctr" eaLnBrk="1" hangingPunct="1">
              <a:lnSpc>
                <a:spcPct val="130000"/>
              </a:lnSpc>
              <a:buSzPct val="60000"/>
            </a:pPr>
            <a:r>
              <a:rPr kumimoji="1" lang="zh-CN" altLang="en-US" sz="24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陈恒鑫</a:t>
            </a:r>
            <a:endParaRPr kumimoji="1" lang="zh-CN" altLang="en-US" sz="2400" b="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algn="ctr" eaLnBrk="1" hangingPunct="1">
              <a:lnSpc>
                <a:spcPct val="130000"/>
              </a:lnSpc>
              <a:buSzPct val="60000"/>
            </a:pPr>
            <a:r>
              <a:rPr kumimoji="1" lang="zh-CN" altLang="en-US" sz="24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重庆大学计算机学院</a:t>
            </a:r>
            <a:endParaRPr kumimoji="1" lang="zh-CN" altLang="en-US" sz="2400" b="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algn="ctr" eaLnBrk="1" hangingPunct="1">
              <a:lnSpc>
                <a:spcPct val="130000"/>
              </a:lnSpc>
              <a:buSzPct val="60000"/>
            </a:pPr>
            <a:r>
              <a:rPr kumimoji="1" lang="en-US" altLang="zh-CN" sz="24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E-Mail:  chenhengxin@cqu.edu.cn</a:t>
            </a:r>
            <a:endParaRPr kumimoji="1" lang="en-US" altLang="zh-CN" sz="2400" b="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+mj-ea"/>
                <a:sym typeface="+mn-ea"/>
              </a:rPr>
              <a:t>桌面应用：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+mj-ea"/>
                <a:sym typeface="+mn-ea"/>
              </a:rPr>
              <a:t>C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+mj-ea"/>
                <a:sym typeface="+mn-ea"/>
              </a:rPr>
              <a:t>端产品数据模拟器</a:t>
            </a:r>
            <a:endParaRPr kumimoji="1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ea"/>
              <a:ea typeface="+mj-ea"/>
              <a:cs typeface="+mj-cs"/>
            </a:endParaRPr>
          </a:p>
        </p:txBody>
      </p:sp>
      <p:sp>
        <p:nvSpPr>
          <p:cNvPr id="3074" name="内容占位符 2"/>
          <p:cNvSpPr>
            <a:spLocks noGrp="1"/>
          </p:cNvSpPr>
          <p:nvPr>
            <p:ph idx="1"/>
          </p:nvPr>
        </p:nvSpPr>
        <p:spPr>
          <a:xfrm>
            <a:off x="3935730" y="765175"/>
            <a:ext cx="6280785" cy="5582285"/>
          </a:xfrm>
        </p:spPr>
        <p:txBody>
          <a:bodyPr vert="horz" wrap="square" lIns="91440" tIns="45720" rIns="91440" bIns="45720" anchor="t" anchorCtr="0"/>
          <a:lstStyle/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kumimoji="1" lang="zh-CN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任务</a:t>
            </a:r>
            <a:r>
              <a:rPr kumimoji="1" lang="zh-CN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要求</a:t>
            </a:r>
            <a:endParaRPr kumimoji="1" lang="zh-CN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kumimoji="1" lang="zh-CN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随机数</a:t>
            </a:r>
            <a:endParaRPr kumimoji="1" lang="en-US" altLang="zh-CN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让</a:t>
            </a: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随机数符合统计规律</a:t>
            </a:r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kumimoji="1"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将结果和日志写入文件</a:t>
            </a:r>
            <a:endParaRPr kumimoji="1" lang="en-US" altLang="zh-CN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多线程</a:t>
            </a:r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GUI界面</a:t>
            </a:r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用</a:t>
            </a:r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Git</a:t>
            </a: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管理代码</a:t>
            </a:r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</a:t>
            </a:r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Linux</a:t>
            </a: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系统上部署</a:t>
            </a: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模拟器</a:t>
            </a:r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Docker</a:t>
            </a: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容器</a:t>
            </a: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技术</a:t>
            </a:r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5" name="直接箭头连接符 4"/>
          <p:cNvCxnSpPr/>
          <p:nvPr/>
        </p:nvCxnSpPr>
        <p:spPr>
          <a:xfrm>
            <a:off x="3359150" y="5085398"/>
            <a:ext cx="576263" cy="0"/>
          </a:xfrm>
          <a:prstGeom prst="straightConnector1">
            <a:avLst/>
          </a:prstGeom>
          <a:ln w="76200" cap="flat" cmpd="sng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0.00000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 smtClean="0">
                <a:sym typeface="+mn-ea"/>
              </a:rPr>
              <a:t>7</a:t>
            </a:r>
            <a:r>
              <a:rPr lang="zh-CN" altLang="en-US" dirty="0" smtClean="0">
                <a:sym typeface="+mn-ea"/>
              </a:rPr>
              <a:t>. 用</a:t>
            </a:r>
            <a:r>
              <a:rPr lang="en-US" altLang="zh-CN" dirty="0" smtClean="0">
                <a:sym typeface="+mn-ea"/>
              </a:rPr>
              <a:t>Git</a:t>
            </a:r>
            <a:r>
              <a:rPr lang="zh-CN" altLang="en-US" dirty="0" smtClean="0">
                <a:sym typeface="+mn-ea"/>
              </a:rPr>
              <a:t>管理代码</a:t>
            </a:r>
            <a:r>
              <a:rPr lang="en-US" altLang="zh-CN" dirty="0" smtClean="0">
                <a:sym typeface="+mn-ea"/>
              </a:rPr>
              <a:t>--</a:t>
            </a:r>
            <a:r>
              <a:rPr lang="zh-CN" altLang="en-US" dirty="0" smtClean="0">
                <a:sym typeface="+mn-ea"/>
              </a:rPr>
              <a:t>版本控制</a:t>
            </a:r>
            <a:endParaRPr lang="zh-CN" altLang="en-US" dirty="0" smtClean="0">
              <a:sym typeface="+mn-ea"/>
            </a:endParaRPr>
          </a:p>
        </p:txBody>
      </p:sp>
      <p:sp>
        <p:nvSpPr>
          <p:cNvPr id="2" name="文本占位符 1"/>
          <p:cNvSpPr/>
          <p:nvPr>
            <p:ph type="body" idx="1"/>
          </p:nvPr>
        </p:nvSpPr>
        <p:spPr>
          <a:xfrm>
            <a:off x="406400" y="1156335"/>
            <a:ext cx="11480800" cy="5408930"/>
          </a:xfrm>
        </p:spPr>
        <p:txBody>
          <a:bodyPr/>
          <a:p>
            <a:pPr latinLnBrk="0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</a:pPr>
            <a:r>
              <a:rPr lang="zh-CN" altLang="en-US" dirty="0">
                <a:sym typeface="+mn-ea"/>
              </a:rPr>
              <a:t>版本控制是一种软件工程技术，它用于管理我们对文件的修改历史，方便查看更改历史记录，备份以便恢复以前的版本。目的是为了提高团队协作开发软件的</a:t>
            </a:r>
            <a:r>
              <a:rPr lang="zh-CN" altLang="en-US" dirty="0">
                <a:sym typeface="+mn-ea"/>
              </a:rPr>
              <a:t>效率。</a:t>
            </a:r>
            <a:endParaRPr lang="zh-CN" altLang="en-US" dirty="0">
              <a:sym typeface="+mn-ea"/>
            </a:endParaRPr>
          </a:p>
          <a:p>
            <a:pPr latinLnBrk="0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</a:pPr>
            <a:endParaRPr lang="zh-CN" altLang="en-US" dirty="0">
              <a:sym typeface="+mn-ea"/>
            </a:endParaRPr>
          </a:p>
          <a:p>
            <a:pPr latinLnBrk="0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</a:pPr>
            <a:r>
              <a:rPr lang="zh-CN" altLang="en-US" dirty="0">
                <a:sym typeface="+mn-ea"/>
              </a:rPr>
              <a:t>版本控制软件系统有：</a:t>
            </a:r>
            <a:r>
              <a:rPr lang="en-US" altLang="zh-CN" dirty="0">
                <a:sym typeface="+mn-ea"/>
              </a:rPr>
              <a:t>Git</a:t>
            </a:r>
            <a:r>
              <a:rPr lang="zh-CN" altLang="en-US" dirty="0">
                <a:sym typeface="+mn-ea"/>
              </a:rPr>
              <a:t>、</a:t>
            </a:r>
            <a:r>
              <a:rPr lang="en-US" altLang="zh-CN" dirty="0">
                <a:sym typeface="+mn-ea"/>
              </a:rPr>
              <a:t>SVN</a:t>
            </a:r>
            <a:r>
              <a:rPr lang="zh-CN" altLang="en-US" dirty="0">
                <a:sym typeface="+mn-ea"/>
              </a:rPr>
              <a:t>、</a:t>
            </a:r>
            <a:r>
              <a:rPr lang="en-US" altLang="zh-CN" dirty="0">
                <a:sym typeface="+mn-ea"/>
              </a:rPr>
              <a:t>CVS</a:t>
            </a:r>
            <a:r>
              <a:rPr lang="zh-CN" altLang="en-US" dirty="0">
                <a:sym typeface="+mn-ea"/>
              </a:rPr>
              <a:t>等，目前绝大多数团队使用</a:t>
            </a:r>
            <a:r>
              <a:rPr lang="en-US" altLang="zh-CN" dirty="0">
                <a:sym typeface="+mn-ea"/>
              </a:rPr>
              <a:t>Git</a:t>
            </a:r>
            <a:r>
              <a:rPr lang="zh-CN" altLang="en-US" dirty="0">
                <a:sym typeface="+mn-ea"/>
              </a:rPr>
              <a:t>，它最大的特点是分布式存储，每个参与者都拥有整个</a:t>
            </a:r>
            <a:r>
              <a:rPr lang="zh-CN" altLang="en-US" dirty="0">
                <a:sym typeface="+mn-ea"/>
              </a:rPr>
              <a:t>版本库。</a:t>
            </a:r>
            <a:endParaRPr lang="zh-CN" altLang="en-US" dirty="0"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4065" y="5157470"/>
            <a:ext cx="2633980" cy="11290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 smtClean="0">
                <a:sym typeface="+mn-ea"/>
              </a:rPr>
              <a:t>7</a:t>
            </a:r>
            <a:r>
              <a:rPr lang="zh-CN" altLang="en-US" dirty="0" smtClean="0">
                <a:sym typeface="+mn-ea"/>
              </a:rPr>
              <a:t>. 用</a:t>
            </a:r>
            <a:r>
              <a:rPr lang="en-US" altLang="zh-CN" dirty="0" smtClean="0">
                <a:sym typeface="+mn-ea"/>
              </a:rPr>
              <a:t>Git</a:t>
            </a:r>
            <a:r>
              <a:rPr lang="zh-CN" altLang="en-US" dirty="0" smtClean="0">
                <a:sym typeface="+mn-ea"/>
              </a:rPr>
              <a:t>管理代码</a:t>
            </a:r>
            <a:r>
              <a:rPr lang="en-US" altLang="zh-CN" dirty="0" smtClean="0">
                <a:sym typeface="+mn-ea"/>
              </a:rPr>
              <a:t>--Git</a:t>
            </a:r>
            <a:r>
              <a:rPr lang="zh-CN" altLang="en-US" dirty="0" smtClean="0">
                <a:sym typeface="+mn-ea"/>
              </a:rPr>
              <a:t>的分布式</a:t>
            </a:r>
            <a:r>
              <a:rPr lang="zh-CN" altLang="en-US" dirty="0" smtClean="0">
                <a:sym typeface="+mn-ea"/>
              </a:rPr>
              <a:t>存储</a:t>
            </a:r>
            <a:endParaRPr lang="zh-CN" altLang="en-US" dirty="0" smtClean="0">
              <a:sym typeface="+mn-ea"/>
            </a:endParaRPr>
          </a:p>
        </p:txBody>
      </p:sp>
      <p:pic>
        <p:nvPicPr>
          <p:cNvPr id="6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1487170" y="1340485"/>
            <a:ext cx="9293225" cy="50882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 smtClean="0">
                <a:sym typeface="+mn-ea"/>
              </a:rPr>
              <a:t>7</a:t>
            </a:r>
            <a:r>
              <a:rPr lang="zh-CN" altLang="en-US" dirty="0" smtClean="0">
                <a:sym typeface="+mn-ea"/>
              </a:rPr>
              <a:t>. 用</a:t>
            </a:r>
            <a:r>
              <a:rPr lang="en-US" altLang="zh-CN" dirty="0" smtClean="0">
                <a:sym typeface="+mn-ea"/>
              </a:rPr>
              <a:t>Git</a:t>
            </a:r>
            <a:r>
              <a:rPr lang="zh-CN" altLang="en-US" dirty="0" smtClean="0">
                <a:sym typeface="+mn-ea"/>
              </a:rPr>
              <a:t>管理代码</a:t>
            </a:r>
            <a:r>
              <a:rPr lang="en-US" altLang="zh-CN" dirty="0" smtClean="0">
                <a:sym typeface="+mn-ea"/>
              </a:rPr>
              <a:t>--Git</a:t>
            </a:r>
            <a:r>
              <a:rPr lang="zh-CN" altLang="en-US" dirty="0" smtClean="0">
                <a:sym typeface="+mn-ea"/>
              </a:rPr>
              <a:t>的四个工作</a:t>
            </a:r>
            <a:r>
              <a:rPr lang="zh-CN" altLang="en-US" dirty="0" smtClean="0">
                <a:sym typeface="+mn-ea"/>
              </a:rPr>
              <a:t>区域</a:t>
            </a:r>
            <a:endParaRPr lang="zh-CN" altLang="en-US" dirty="0" smtClean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Wingdings" panose="05000000000000000000" charset="0"/>
              <a:buChar char="Ø"/>
            </a:pPr>
            <a:r>
              <a:rPr lang="zh-CN" altLang="en-US"/>
              <a:t>四个工作区域</a:t>
            </a:r>
            <a:endParaRPr lang="zh-CN" altLang="en-US" dirty="0">
              <a:effectLst/>
            </a:endParaRPr>
          </a:p>
          <a:p>
            <a:pPr lvl="1"/>
            <a:r>
              <a:rPr lang="zh-CN" altLang="en-US" b="0" dirty="0">
                <a:effectLst/>
              </a:rPr>
              <a:t>工作目录（</a:t>
            </a:r>
            <a:r>
              <a:rPr lang="en-US" altLang="zh-CN" b="0" dirty="0">
                <a:effectLst/>
              </a:rPr>
              <a:t>Working Directory</a:t>
            </a:r>
            <a:r>
              <a:rPr lang="zh-CN" altLang="en-US" b="0" dirty="0">
                <a:effectLst/>
              </a:rPr>
              <a:t>）：</a:t>
            </a:r>
            <a:r>
              <a:rPr lang="zh-CN" altLang="en-US" b="0" dirty="0"/>
              <a:t>平时存放项目代码的地方</a:t>
            </a:r>
            <a:endParaRPr lang="en-US" altLang="zh-CN" b="0" dirty="0">
              <a:effectLst/>
            </a:endParaRPr>
          </a:p>
          <a:p>
            <a:pPr lvl="1"/>
            <a:r>
              <a:rPr lang="zh-CN" altLang="en-US" b="0" dirty="0">
                <a:effectLst/>
              </a:rPr>
              <a:t>暂存区</a:t>
            </a:r>
            <a:r>
              <a:rPr lang="en-US" altLang="zh-CN" b="0" dirty="0">
                <a:effectLst/>
              </a:rPr>
              <a:t>(Stage/Index)</a:t>
            </a:r>
            <a:r>
              <a:rPr lang="zh-CN" altLang="en-US" b="0" dirty="0">
                <a:effectLst/>
              </a:rPr>
              <a:t>：</a:t>
            </a:r>
            <a:r>
              <a:rPr lang="zh-CN" altLang="en-US" b="0" dirty="0"/>
              <a:t>用于临时存放代码的改动，事实上它只是一个文件，保存即将提交到文件列表信息</a:t>
            </a:r>
            <a:endParaRPr lang="en-US" altLang="zh-CN" b="0" dirty="0"/>
          </a:p>
          <a:p>
            <a:pPr lvl="1"/>
            <a:r>
              <a:rPr lang="zh-CN" altLang="en-US" b="0" dirty="0">
                <a:effectLst/>
              </a:rPr>
              <a:t>资源库</a:t>
            </a:r>
            <a:r>
              <a:rPr lang="en-US" altLang="zh-CN" b="0" dirty="0">
                <a:effectLst/>
              </a:rPr>
              <a:t>(Repository</a:t>
            </a:r>
            <a:r>
              <a:rPr lang="zh-CN" altLang="en-US" b="0" dirty="0">
                <a:effectLst/>
              </a:rPr>
              <a:t>或</a:t>
            </a:r>
            <a:r>
              <a:rPr lang="en-US" altLang="zh-CN" b="0" dirty="0">
                <a:effectLst/>
              </a:rPr>
              <a:t>Git Directory)</a:t>
            </a:r>
            <a:r>
              <a:rPr lang="zh-CN" altLang="en-US" b="0" dirty="0">
                <a:effectLst/>
              </a:rPr>
              <a:t>：</a:t>
            </a:r>
            <a:r>
              <a:rPr lang="zh-CN" altLang="en-US" b="0" dirty="0"/>
              <a:t>安全存放数据的位置，这里面有提交到所有版本的数据。其中</a:t>
            </a:r>
            <a:r>
              <a:rPr lang="en-US" altLang="zh-CN" b="0" dirty="0"/>
              <a:t>HEAD</a:t>
            </a:r>
            <a:r>
              <a:rPr lang="zh-CN" altLang="en-US" b="0" dirty="0"/>
              <a:t>指向最新放入仓库的版本</a:t>
            </a:r>
            <a:endParaRPr lang="en-US" altLang="zh-CN" b="0" dirty="0"/>
          </a:p>
          <a:p>
            <a:pPr lvl="1"/>
            <a:r>
              <a:rPr lang="zh-CN" altLang="en-US" b="0" dirty="0">
                <a:effectLst/>
              </a:rPr>
              <a:t>远程的</a:t>
            </a:r>
            <a:r>
              <a:rPr lang="en-US" altLang="zh-CN" b="0" dirty="0">
                <a:effectLst/>
              </a:rPr>
              <a:t>git</a:t>
            </a:r>
            <a:r>
              <a:rPr lang="zh-CN" altLang="en-US" b="0" dirty="0">
                <a:effectLst/>
              </a:rPr>
              <a:t>仓库</a:t>
            </a:r>
            <a:r>
              <a:rPr lang="en-US" altLang="zh-CN" b="0" dirty="0">
                <a:effectLst/>
              </a:rPr>
              <a:t>(Remote Directory)</a:t>
            </a:r>
            <a:r>
              <a:rPr lang="zh-CN" altLang="en-US" b="0" dirty="0">
                <a:effectLst/>
              </a:rPr>
              <a:t>：</a:t>
            </a:r>
            <a:r>
              <a:rPr lang="zh-CN" altLang="en-US" b="0" dirty="0"/>
              <a:t>托管代码的服务器</a:t>
            </a:r>
            <a:endParaRPr lang="en-US" altLang="zh-CN" b="0" dirty="0">
              <a:effectLst/>
            </a:endParaRPr>
          </a:p>
          <a:p>
            <a:pPr>
              <a:buFont typeface="Wingdings" panose="05000000000000000000" charset="0"/>
              <a:buChar char="Ø"/>
            </a:pPr>
            <a:endParaRPr lang="zh-CN" altLang="en-US"/>
          </a:p>
          <a:p>
            <a:pPr>
              <a:buFont typeface="Wingdings" panose="05000000000000000000" charset="0"/>
              <a:buChar char="Ø"/>
            </a:pPr>
            <a:r>
              <a:rPr lang="zh-CN" altLang="en-US"/>
              <a:t>工作目录、暂存区、资源库是本地工作区域</a:t>
            </a:r>
            <a:endParaRPr lang="zh-CN" altLang="en-US"/>
          </a:p>
          <a:p>
            <a:pPr>
              <a:buFont typeface="Wingdings" panose="05000000000000000000" charset="0"/>
              <a:buChar char="Ø"/>
            </a:pPr>
            <a:endParaRPr lang="zh-CN" altLang="en-US"/>
          </a:p>
          <a:p>
            <a:pPr>
              <a:buFont typeface="Wingdings" panose="05000000000000000000" charset="0"/>
              <a:buChar char="Ø"/>
            </a:pPr>
            <a:r>
              <a:rPr lang="zh-CN" altLang="en-US"/>
              <a:t>远程的git仓库是远程仓库</a:t>
            </a:r>
            <a:endParaRPr lang="zh-CN" altLang="en-US"/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 smtClean="0">
                <a:sym typeface="+mn-ea"/>
              </a:rPr>
              <a:t>7</a:t>
            </a:r>
            <a:r>
              <a:rPr lang="zh-CN" altLang="en-US" dirty="0" smtClean="0">
                <a:sym typeface="+mn-ea"/>
              </a:rPr>
              <a:t>. 用</a:t>
            </a:r>
            <a:r>
              <a:rPr lang="en-US" altLang="zh-CN" dirty="0" smtClean="0">
                <a:sym typeface="+mn-ea"/>
              </a:rPr>
              <a:t>Git</a:t>
            </a:r>
            <a:r>
              <a:rPr lang="zh-CN" altLang="en-US" dirty="0" smtClean="0">
                <a:sym typeface="+mn-ea"/>
              </a:rPr>
              <a:t>管理代码</a:t>
            </a:r>
            <a:r>
              <a:rPr lang="en-US" altLang="zh-CN" dirty="0" smtClean="0">
                <a:sym typeface="+mn-ea"/>
              </a:rPr>
              <a:t>--Git</a:t>
            </a:r>
            <a:r>
              <a:rPr lang="zh-CN" altLang="en-US" dirty="0" smtClean="0">
                <a:sym typeface="+mn-ea"/>
              </a:rPr>
              <a:t>工作流</a:t>
            </a:r>
            <a:endParaRPr lang="zh-CN" altLang="en-US" dirty="0" smtClean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1135" y="1156335"/>
            <a:ext cx="5648325" cy="5579745"/>
          </a:xfrm>
        </p:spPr>
        <p:txBody>
          <a:bodyPr/>
          <a:lstStyle/>
          <a:p>
            <a:r>
              <a:rPr lang="en-US" altLang="zh-CN" dirty="0"/>
              <a:t>git</a:t>
            </a:r>
            <a:r>
              <a:rPr lang="zh-CN" altLang="en-US" dirty="0"/>
              <a:t>的工作流程一般是这样的：</a:t>
            </a:r>
            <a:endParaRPr lang="zh-CN" altLang="en-US" dirty="0"/>
          </a:p>
          <a:p>
            <a:pPr marL="457200" lvl="1" indent="0">
              <a:buNone/>
            </a:pPr>
            <a:r>
              <a:rPr lang="zh-CN" altLang="en-US" dirty="0"/>
              <a:t>１、在工作目录中添加、修改文件</a:t>
            </a:r>
            <a:endParaRPr lang="zh-CN" altLang="en-US" dirty="0"/>
          </a:p>
          <a:p>
            <a:pPr marL="457200" lvl="1" indent="0">
              <a:buNone/>
            </a:pPr>
            <a:r>
              <a:rPr lang="zh-CN" altLang="en-US" dirty="0"/>
              <a:t>２、将需要进行版本管理的文件放入暂存区域</a:t>
            </a:r>
            <a:endParaRPr lang="zh-CN" altLang="en-US" dirty="0"/>
          </a:p>
          <a:p>
            <a:pPr marL="457200" lvl="1" indent="0">
              <a:buNone/>
            </a:pPr>
            <a:r>
              <a:rPr lang="zh-CN" altLang="en-US" dirty="0"/>
              <a:t>３、将暂存区域的文件提交到</a:t>
            </a:r>
            <a:r>
              <a:rPr lang="en-US" altLang="zh-CN" dirty="0"/>
              <a:t>git</a:t>
            </a:r>
            <a:r>
              <a:rPr lang="zh-CN" altLang="en-US" dirty="0"/>
              <a:t>仓库</a:t>
            </a:r>
            <a:endParaRPr lang="zh-CN" altLang="en-US" dirty="0"/>
          </a:p>
          <a:p>
            <a:endParaRPr lang="en-US" altLang="zh-CN" dirty="0"/>
          </a:p>
          <a:p>
            <a:r>
              <a:rPr lang="en-US" altLang="zh-CN" dirty="0"/>
              <a:t>git</a:t>
            </a:r>
            <a:r>
              <a:rPr lang="zh-CN" altLang="en-US" dirty="0"/>
              <a:t>管理的文件有三种状态</a:t>
            </a:r>
            <a:endParaRPr lang="en-US" altLang="zh-CN" dirty="0"/>
          </a:p>
          <a:p>
            <a:pPr lvl="1"/>
            <a:r>
              <a:rPr lang="zh-CN" altLang="en-US" dirty="0"/>
              <a:t>已修改（</a:t>
            </a:r>
            <a:r>
              <a:rPr lang="en-US" altLang="zh-CN" dirty="0"/>
              <a:t>modified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已暂存（</a:t>
            </a:r>
            <a:r>
              <a:rPr lang="en-US" altLang="zh-CN" dirty="0"/>
              <a:t>staged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已提交</a:t>
            </a:r>
            <a:r>
              <a:rPr lang="en-US" altLang="zh-CN" dirty="0"/>
              <a:t>(committed)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3740" y="1493520"/>
            <a:ext cx="6447155" cy="49047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 smtClean="0">
                <a:sym typeface="+mn-ea"/>
              </a:rPr>
              <a:t>7</a:t>
            </a:r>
            <a:r>
              <a:rPr lang="zh-CN" altLang="en-US" dirty="0" smtClean="0">
                <a:sym typeface="+mn-ea"/>
              </a:rPr>
              <a:t>. 用</a:t>
            </a:r>
            <a:r>
              <a:rPr lang="en-US" altLang="zh-CN" dirty="0" smtClean="0">
                <a:sym typeface="+mn-ea"/>
              </a:rPr>
              <a:t>Git</a:t>
            </a:r>
            <a:r>
              <a:rPr lang="zh-CN" altLang="en-US" dirty="0" smtClean="0">
                <a:sym typeface="+mn-ea"/>
              </a:rPr>
              <a:t>管理代码</a:t>
            </a:r>
            <a:r>
              <a:rPr lang="en-US" altLang="zh-CN" dirty="0" smtClean="0">
                <a:sym typeface="+mn-ea"/>
              </a:rPr>
              <a:t>--</a:t>
            </a:r>
            <a:r>
              <a:rPr lang="zh-CN" altLang="en-US" dirty="0" smtClean="0">
                <a:sym typeface="+mn-ea"/>
              </a:rPr>
              <a:t>分支</a:t>
            </a:r>
            <a:endParaRPr lang="zh-CN" altLang="en-US" dirty="0" smtClean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1135" y="1156335"/>
            <a:ext cx="11612245" cy="2461895"/>
          </a:xfrm>
        </p:spPr>
        <p:txBody>
          <a:bodyPr/>
          <a:lstStyle/>
          <a:p>
            <a:r>
              <a:rPr lang="zh-CN" altLang="en-US" dirty="0">
                <a:sym typeface="+mn-ea"/>
              </a:rPr>
              <a:t>同一个项目可能每个人负责的是不同的功能或者模块编写，但是针对同一个项目操作很容易发生不可预计的错误，所以提出了分支。</a:t>
            </a:r>
            <a:endParaRPr lang="en-US" altLang="zh-CN" dirty="0"/>
          </a:p>
          <a:p>
            <a:r>
              <a:rPr lang="zh-CN" altLang="en-US" dirty="0">
                <a:sym typeface="+mn-ea"/>
              </a:rPr>
              <a:t>每个小组负责的部分单独开一个分支，到最后项目需要整合了再</a:t>
            </a:r>
            <a:r>
              <a:rPr lang="en-US" altLang="zh-CN" dirty="0">
                <a:sym typeface="+mn-ea"/>
              </a:rPr>
              <a:t>merge</a:t>
            </a:r>
            <a:r>
              <a:rPr lang="zh-CN" altLang="en-US" dirty="0">
                <a:sym typeface="+mn-ea"/>
              </a:rPr>
              <a:t>合并即可。</a:t>
            </a:r>
            <a:endParaRPr lang="zh-CN" altLang="en-US" dirty="0"/>
          </a:p>
        </p:txBody>
      </p:sp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3431540" y="2636520"/>
            <a:ext cx="8698230" cy="414147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041380" y="8109585"/>
            <a:ext cx="20771485" cy="11722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 smtClean="0">
                <a:sym typeface="+mn-ea"/>
              </a:rPr>
              <a:t>7</a:t>
            </a:r>
            <a:r>
              <a:rPr lang="zh-CN" altLang="en-US" dirty="0" smtClean="0">
                <a:sym typeface="+mn-ea"/>
              </a:rPr>
              <a:t>. 用</a:t>
            </a:r>
            <a:r>
              <a:rPr lang="en-US" altLang="zh-CN" dirty="0" smtClean="0">
                <a:sym typeface="+mn-ea"/>
              </a:rPr>
              <a:t>Git</a:t>
            </a:r>
            <a:r>
              <a:rPr lang="zh-CN" altLang="en-US" dirty="0" smtClean="0">
                <a:sym typeface="+mn-ea"/>
              </a:rPr>
              <a:t>管理代码</a:t>
            </a:r>
            <a:r>
              <a:rPr lang="en-US" altLang="zh-CN" dirty="0" smtClean="0">
                <a:sym typeface="+mn-ea"/>
              </a:rPr>
              <a:t>--</a:t>
            </a:r>
            <a:r>
              <a:rPr lang="zh-CN" altLang="en-US" dirty="0" smtClean="0">
                <a:sym typeface="+mn-ea"/>
              </a:rPr>
              <a:t>分支</a:t>
            </a:r>
            <a:endParaRPr lang="zh-CN" altLang="en-US" dirty="0" smtClean="0"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615" y="908685"/>
            <a:ext cx="10459720" cy="59029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 smtClean="0">
                <a:sym typeface="+mn-ea"/>
              </a:rPr>
              <a:t>7</a:t>
            </a:r>
            <a:r>
              <a:rPr lang="zh-CN" altLang="en-US" dirty="0" smtClean="0">
                <a:sym typeface="+mn-ea"/>
              </a:rPr>
              <a:t>. 用</a:t>
            </a:r>
            <a:r>
              <a:rPr lang="en-US" altLang="zh-CN" dirty="0" smtClean="0">
                <a:sym typeface="+mn-ea"/>
              </a:rPr>
              <a:t>Git</a:t>
            </a:r>
            <a:r>
              <a:rPr lang="zh-CN" altLang="en-US" dirty="0" smtClean="0">
                <a:sym typeface="+mn-ea"/>
              </a:rPr>
              <a:t>管理代码</a:t>
            </a:r>
            <a:r>
              <a:rPr lang="en-US" altLang="zh-CN" dirty="0" smtClean="0">
                <a:sym typeface="+mn-ea"/>
              </a:rPr>
              <a:t>--</a:t>
            </a:r>
            <a:r>
              <a:rPr lang="zh-CN" altLang="en-US" dirty="0" smtClean="0">
                <a:sym typeface="+mn-ea"/>
              </a:rPr>
              <a:t>管理自己的</a:t>
            </a:r>
            <a:r>
              <a:rPr lang="zh-CN" altLang="en-US" dirty="0" smtClean="0">
                <a:sym typeface="+mn-ea"/>
              </a:rPr>
              <a:t>代码</a:t>
            </a:r>
            <a:endParaRPr lang="zh-CN" altLang="en-US" dirty="0" smtClean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6400" y="1156335"/>
            <a:ext cx="11480800" cy="5454015"/>
          </a:xfrm>
        </p:spPr>
        <p:txBody>
          <a:bodyPr/>
          <a:p>
            <a:pPr>
              <a:buFont typeface="Wingdings" panose="05000000000000000000" charset="0"/>
              <a:buChar char="Ø"/>
            </a:pPr>
            <a:r>
              <a:rPr lang="zh-CN" altLang="en-US"/>
              <a:t>选择</a:t>
            </a:r>
            <a:r>
              <a:rPr lang="en-US" altLang="zh-CN"/>
              <a:t>Git</a:t>
            </a:r>
            <a:r>
              <a:rPr lang="zh-CN" altLang="en-US"/>
              <a:t>服务器：自己搭建？还是托管</a:t>
            </a:r>
            <a:r>
              <a:rPr lang="zh-CN" altLang="en-US"/>
              <a:t>平台？</a:t>
            </a:r>
            <a:endParaRPr lang="zh-CN" altLang="en-US"/>
          </a:p>
          <a:p>
            <a:pPr marL="0" indent="457200">
              <a:buFont typeface="Wingdings" panose="05000000000000000000" charset="0"/>
              <a:buNone/>
            </a:pPr>
            <a:r>
              <a:rPr lang="zh-CN" altLang="en-US"/>
              <a:t>小企业、小团队、非军事国防项目，优先选择托管</a:t>
            </a:r>
            <a:r>
              <a:rPr lang="zh-CN" altLang="en-US"/>
              <a:t>平台</a:t>
            </a:r>
            <a:endParaRPr lang="zh-CN" altLang="en-US"/>
          </a:p>
          <a:p>
            <a:pPr>
              <a:buFont typeface="Wingdings" panose="05000000000000000000" charset="0"/>
              <a:buChar char="Ø"/>
            </a:pPr>
            <a:endParaRPr lang="zh-CN" altLang="en-US"/>
          </a:p>
          <a:p>
            <a:pPr>
              <a:buFont typeface="Wingdings" panose="05000000000000000000" charset="0"/>
              <a:buChar char="Ø"/>
            </a:pPr>
            <a:r>
              <a:rPr lang="zh-CN" altLang="en-US"/>
              <a:t>知名代码托管平台：</a:t>
            </a:r>
            <a:r>
              <a:rPr lang="en-US" altLang="zh-CN"/>
              <a:t>GitHub</a:t>
            </a:r>
            <a:r>
              <a:rPr lang="zh-CN" altLang="en-US"/>
              <a:t>、</a:t>
            </a:r>
            <a:r>
              <a:rPr lang="en-US" altLang="zh-CN"/>
              <a:t>Gitee</a:t>
            </a:r>
            <a:r>
              <a:rPr lang="zh-CN" altLang="en-US"/>
              <a:t>、</a:t>
            </a:r>
            <a:r>
              <a:rPr lang="en-US" altLang="zh-CN"/>
              <a:t>GitLab</a:t>
            </a:r>
            <a:endParaRPr lang="en-US" altLang="zh-CN"/>
          </a:p>
          <a:p>
            <a:pPr>
              <a:buFont typeface="Wingdings" panose="05000000000000000000" charset="0"/>
              <a:buChar char="Ø"/>
            </a:pPr>
            <a:endParaRPr lang="en-US" altLang="zh-CN" dirty="0">
              <a:effectLst/>
            </a:endParaRPr>
          </a:p>
          <a:p>
            <a:pPr>
              <a:buFont typeface="Wingdings" panose="05000000000000000000" charset="0"/>
              <a:buChar char="Ø"/>
            </a:pPr>
            <a:endParaRPr lang="en-US" altLang="zh-CN" dirty="0">
              <a:effectLst/>
            </a:endParaRPr>
          </a:p>
          <a:p>
            <a:pPr>
              <a:buFont typeface="Wingdings" panose="05000000000000000000" charset="0"/>
              <a:buChar char="Ø"/>
            </a:pPr>
            <a:endParaRPr lang="en-US" altLang="zh-CN" dirty="0">
              <a:effectLst/>
            </a:endParaRPr>
          </a:p>
          <a:p>
            <a:pPr>
              <a:buFont typeface="Wingdings" panose="05000000000000000000" charset="0"/>
              <a:buChar char="Ø"/>
            </a:pPr>
            <a:endParaRPr lang="zh-CN" altLang="en-US" dirty="0">
              <a:effectLst/>
            </a:endParaRPr>
          </a:p>
          <a:p>
            <a:pPr>
              <a:buFont typeface="Wingdings" panose="05000000000000000000" charset="0"/>
              <a:buChar char="Ø"/>
            </a:pPr>
            <a:r>
              <a:rPr lang="zh-CN" altLang="en-US"/>
              <a:t>搭建自己的</a:t>
            </a:r>
            <a:r>
              <a:rPr lang="en-US" altLang="zh-CN"/>
              <a:t>Git</a:t>
            </a:r>
            <a:r>
              <a:rPr lang="zh-CN" altLang="en-US"/>
              <a:t>服务器：装</a:t>
            </a:r>
            <a:r>
              <a:rPr lang="en-US" altLang="zh-CN">
                <a:sym typeface="+mn-ea"/>
              </a:rPr>
              <a:t>Gogs</a:t>
            </a:r>
            <a:r>
              <a:rPr lang="zh-CN" altLang="en-US"/>
              <a:t>或者</a:t>
            </a:r>
            <a:r>
              <a:rPr lang="en-US" altLang="zh-CN">
                <a:sym typeface="+mn-ea"/>
              </a:rPr>
              <a:t>GitBlit</a:t>
            </a:r>
            <a:endParaRPr lang="zh-CN" altLang="en-US"/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6445" y="3892550"/>
            <a:ext cx="2262505" cy="82423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9330" y="3892550"/>
            <a:ext cx="2269490" cy="69532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1900" y="5959475"/>
            <a:ext cx="1884680" cy="65087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1405" y="5861050"/>
            <a:ext cx="2204085" cy="78041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3290" y="3892550"/>
            <a:ext cx="2974340" cy="6902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 smtClean="0">
                <a:sym typeface="+mn-ea"/>
              </a:rPr>
              <a:t>7</a:t>
            </a:r>
            <a:r>
              <a:rPr lang="zh-CN" altLang="en-US" dirty="0" smtClean="0">
                <a:sym typeface="+mn-ea"/>
              </a:rPr>
              <a:t>. 用</a:t>
            </a:r>
            <a:r>
              <a:rPr lang="en-US" altLang="zh-CN" dirty="0" smtClean="0">
                <a:sym typeface="+mn-ea"/>
              </a:rPr>
              <a:t>Git</a:t>
            </a:r>
            <a:r>
              <a:rPr lang="zh-CN" altLang="en-US" dirty="0" smtClean="0">
                <a:sym typeface="+mn-ea"/>
              </a:rPr>
              <a:t>管理代码</a:t>
            </a:r>
            <a:r>
              <a:rPr lang="en-US" altLang="zh-CN" dirty="0" smtClean="0">
                <a:sym typeface="+mn-ea"/>
              </a:rPr>
              <a:t>--</a:t>
            </a:r>
            <a:r>
              <a:rPr lang="zh-CN" altLang="en-US" dirty="0" smtClean="0">
                <a:sym typeface="+mn-ea"/>
              </a:rPr>
              <a:t>管理自己的</a:t>
            </a:r>
            <a:r>
              <a:rPr lang="zh-CN" altLang="en-US" dirty="0" smtClean="0">
                <a:sym typeface="+mn-ea"/>
              </a:rPr>
              <a:t>代码</a:t>
            </a:r>
            <a:endParaRPr lang="zh-CN" altLang="en-US" dirty="0" smtClean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6400" y="1156335"/>
            <a:ext cx="11480800" cy="5454015"/>
          </a:xfrm>
        </p:spPr>
        <p:txBody>
          <a:bodyPr/>
          <a:p>
            <a:pPr>
              <a:buFont typeface="Wingdings" panose="05000000000000000000" charset="0"/>
              <a:buChar char="Ø"/>
            </a:pPr>
            <a:r>
              <a:rPr lang="zh-CN" altLang="en-US"/>
              <a:t>安装</a:t>
            </a:r>
            <a:r>
              <a:rPr lang="en-US" altLang="zh-CN"/>
              <a:t>Git</a:t>
            </a:r>
            <a:r>
              <a:rPr lang="zh-CN" altLang="en-US"/>
              <a:t>：</a:t>
            </a:r>
            <a:r>
              <a:rPr lang="en-US" altLang="zh-CN"/>
              <a:t>https://git-scm.com/downloads</a:t>
            </a:r>
            <a:endParaRPr lang="en-US" altLang="zh-CN"/>
          </a:p>
          <a:p>
            <a:pPr>
              <a:buFont typeface="Wingdings" panose="05000000000000000000" charset="0"/>
              <a:buChar char="Ø"/>
            </a:pPr>
            <a:endParaRPr lang="zh-CN" altLang="en-US"/>
          </a:p>
          <a:p>
            <a:pPr>
              <a:buFont typeface="Wingdings" panose="05000000000000000000" charset="0"/>
              <a:buChar char="Ø"/>
            </a:pPr>
            <a:r>
              <a:rPr lang="zh-CN" altLang="en-US"/>
              <a:t>可以使用</a:t>
            </a:r>
            <a:r>
              <a:rPr lang="en-US" altLang="zh-CN"/>
              <a:t>Git</a:t>
            </a:r>
            <a:r>
              <a:rPr lang="zh-CN" altLang="en-US"/>
              <a:t>命令和客户端两种方式来进行本地代码版本</a:t>
            </a:r>
            <a:r>
              <a:rPr lang="zh-CN" altLang="en-US"/>
              <a:t>管理</a:t>
            </a:r>
            <a:endParaRPr lang="zh-CN" altLang="en-US"/>
          </a:p>
          <a:p>
            <a:pPr>
              <a:buFont typeface="Wingdings" panose="05000000000000000000" charset="0"/>
              <a:buChar char="Ø"/>
            </a:pPr>
            <a:endParaRPr lang="zh-CN" altLang="en-US" dirty="0"/>
          </a:p>
        </p:txBody>
      </p:sp>
      <p:pic>
        <p:nvPicPr>
          <p:cNvPr id="14" name="图片 13"/>
          <p:cNvPicPr/>
          <p:nvPr/>
        </p:nvPicPr>
        <p:blipFill>
          <a:blip r:embed="rId1"/>
          <a:stretch>
            <a:fillRect/>
          </a:stretch>
        </p:blipFill>
        <p:spPr>
          <a:xfrm>
            <a:off x="695325" y="2708910"/>
            <a:ext cx="6800215" cy="405638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7607935" y="2781300"/>
            <a:ext cx="4388485" cy="39833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/>
              <a:t>官方推荐的</a:t>
            </a:r>
            <a:r>
              <a:rPr lang="en-US" altLang="zh-CN"/>
              <a:t>38</a:t>
            </a:r>
            <a:r>
              <a:rPr lang="zh-CN" altLang="en-US"/>
              <a:t>种客户端：</a:t>
            </a:r>
            <a:endParaRPr lang="zh-CN" altLang="en-US"/>
          </a:p>
          <a:p>
            <a:r>
              <a:rPr lang="en-US" altLang="zh-CN"/>
              <a:t>https://git-scm.com/downloads/guis?os=windows</a:t>
            </a:r>
            <a:endParaRPr lang="en-US" altLang="zh-CN"/>
          </a:p>
          <a:p>
            <a:endParaRPr lang="zh-CN" altLang="en-US"/>
          </a:p>
          <a:p>
            <a:r>
              <a:rPr lang="zh-CN" altLang="en-US"/>
              <a:t>推荐：</a:t>
            </a:r>
            <a:r>
              <a:rPr kumimoji="1" lang="zh-CN" altLang="en-US" sz="2800" b="1" kern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rPr>
              <a:t>用VS Code自带的插件</a:t>
            </a:r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2260" y="5301615"/>
            <a:ext cx="866775" cy="1117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sym typeface="+mn-ea"/>
              </a:rPr>
              <a:t>7</a:t>
            </a:r>
            <a:r>
              <a:rPr lang="zh-CN" altLang="en-US" dirty="0" smtClean="0">
                <a:sym typeface="+mn-ea"/>
              </a:rPr>
              <a:t>. 用</a:t>
            </a:r>
            <a:r>
              <a:rPr lang="en-US" altLang="zh-CN" dirty="0" smtClean="0">
                <a:sym typeface="+mn-ea"/>
              </a:rPr>
              <a:t>Git</a:t>
            </a:r>
            <a:r>
              <a:rPr lang="zh-CN" altLang="en-US" dirty="0" smtClean="0">
                <a:sym typeface="+mn-ea"/>
              </a:rPr>
              <a:t>管理代码</a:t>
            </a:r>
            <a:r>
              <a:rPr lang="en-US" altLang="zh-CN" dirty="0" smtClean="0">
                <a:sym typeface="+mn-ea"/>
              </a:rPr>
              <a:t>--Gitee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Gitee（码云）是开源中国（OSChina）推出的基于Git的代码托管服务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Gitee目前已经成为国内最大的代码托管平台，致力于为国内开发者提供优质稳定的托管服务，与GitHub类似区别在于码云国内，GitHub国外。</a:t>
            </a:r>
            <a:endParaRPr lang="zh-CN" altLang="en-US"/>
          </a:p>
          <a:p>
            <a:endParaRPr lang="zh-CN" altLang="en-US"/>
          </a:p>
          <a:p>
            <a:r>
              <a:rPr lang="zh-CN" altLang="en-US">
                <a:hlinkClick r:id="rId1"/>
              </a:rPr>
              <a:t>https://gitee.com/</a:t>
            </a:r>
            <a:endParaRPr lang="zh-CN" altLang="en-US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sym typeface="+mn-ea"/>
              </a:rPr>
              <a:t>7</a:t>
            </a:r>
            <a:r>
              <a:rPr lang="zh-CN" altLang="en-US" dirty="0" smtClean="0">
                <a:sym typeface="+mn-ea"/>
              </a:rPr>
              <a:t>. 用</a:t>
            </a:r>
            <a:r>
              <a:rPr lang="en-US" altLang="zh-CN" dirty="0" smtClean="0">
                <a:sym typeface="+mn-ea"/>
              </a:rPr>
              <a:t>Git</a:t>
            </a:r>
            <a:r>
              <a:rPr lang="zh-CN" altLang="en-US" dirty="0" smtClean="0">
                <a:sym typeface="+mn-ea"/>
              </a:rPr>
              <a:t>管理代码</a:t>
            </a:r>
            <a:r>
              <a:rPr lang="en-US" altLang="zh-CN" dirty="0" smtClean="0">
                <a:sym typeface="+mn-ea"/>
              </a:rPr>
              <a:t>--</a:t>
            </a:r>
            <a:r>
              <a:rPr lang="zh-CN" altLang="en-US" dirty="0" smtClean="0"/>
              <a:t>Gitee仓库的创建</a:t>
            </a:r>
            <a:endParaRPr lang="zh-CN" altLang="en-US" dirty="0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effectLst/>
              </a:rPr>
              <a:t>打开浏览器输入</a:t>
            </a:r>
            <a:r>
              <a:rPr lang="en-US" altLang="zh-CN" dirty="0">
                <a:effectLst/>
              </a:rPr>
              <a:t>https://gitee.com</a:t>
            </a:r>
            <a:r>
              <a:rPr lang="zh-CN" altLang="en-US" dirty="0">
                <a:effectLst/>
              </a:rPr>
              <a:t>进到官网</a:t>
            </a:r>
            <a:endParaRPr lang="en-US" altLang="zh-CN" dirty="0">
              <a:effectLst/>
            </a:endParaRPr>
          </a:p>
          <a:p>
            <a:r>
              <a:rPr lang="zh-CN" altLang="en-US" dirty="0">
                <a:effectLst/>
              </a:rPr>
              <a:t>注册</a:t>
            </a:r>
            <a:r>
              <a:rPr lang="en-US" altLang="zh-CN" dirty="0">
                <a:effectLst/>
              </a:rPr>
              <a:t>/</a:t>
            </a:r>
            <a:r>
              <a:rPr lang="zh-CN" altLang="en-US" dirty="0">
                <a:effectLst/>
              </a:rPr>
              <a:t>登录 账号</a:t>
            </a:r>
            <a:endParaRPr lang="zh-CN" altLang="en-US" dirty="0">
              <a:effectLst/>
            </a:endParaRPr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0" y="2990262"/>
            <a:ext cx="12192000" cy="376296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sym typeface="+mn-ea"/>
              </a:rPr>
              <a:t>7</a:t>
            </a:r>
            <a:r>
              <a:rPr lang="zh-CN" altLang="en-US" dirty="0" smtClean="0">
                <a:sym typeface="+mn-ea"/>
              </a:rPr>
              <a:t>. 用</a:t>
            </a:r>
            <a:r>
              <a:rPr lang="en-US" altLang="zh-CN" dirty="0" smtClean="0">
                <a:sym typeface="+mn-ea"/>
              </a:rPr>
              <a:t>Git</a:t>
            </a:r>
            <a:r>
              <a:rPr lang="zh-CN" altLang="en-US" dirty="0" smtClean="0">
                <a:sym typeface="+mn-ea"/>
              </a:rPr>
              <a:t>管理代码</a:t>
            </a:r>
            <a:r>
              <a:rPr lang="en-US" altLang="zh-CN" dirty="0" smtClean="0">
                <a:sym typeface="+mn-ea"/>
              </a:rPr>
              <a:t>--</a:t>
            </a:r>
            <a:r>
              <a:rPr lang="zh-CN" altLang="en-US" dirty="0" smtClean="0">
                <a:sym typeface="+mn-ea"/>
              </a:rPr>
              <a:t>Gitee仓库的创建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effectLst/>
              </a:rPr>
              <a:t>在右上角找到</a:t>
            </a:r>
            <a:r>
              <a:rPr lang="en-US" altLang="zh-CN" dirty="0">
                <a:effectLst/>
              </a:rPr>
              <a:t>+</a:t>
            </a:r>
            <a:r>
              <a:rPr lang="zh-CN" altLang="en-US" dirty="0">
                <a:effectLst/>
              </a:rPr>
              <a:t>号</a:t>
            </a:r>
            <a:r>
              <a:rPr lang="en-US" altLang="zh-CN" dirty="0">
                <a:effectLst/>
              </a:rPr>
              <a:t>,</a:t>
            </a:r>
            <a:r>
              <a:rPr lang="zh-CN" altLang="en-US" dirty="0">
                <a:effectLst/>
              </a:rPr>
              <a:t>第二步</a:t>
            </a:r>
            <a:r>
              <a:rPr lang="en-US" altLang="zh-CN" dirty="0">
                <a:effectLst/>
              </a:rPr>
              <a:t>:</a:t>
            </a:r>
            <a:r>
              <a:rPr lang="zh-CN" altLang="en-US" dirty="0">
                <a:effectLst/>
              </a:rPr>
              <a:t>鼠标右键点击新建一个属于我们的仓库</a:t>
            </a:r>
            <a:endParaRPr lang="zh-CN" altLang="en-US" dirty="0">
              <a:effectLst/>
            </a:endParaRPr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" y="1772816"/>
            <a:ext cx="11280576" cy="479930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sym typeface="+mn-ea"/>
              </a:rPr>
              <a:t>7</a:t>
            </a:r>
            <a:r>
              <a:rPr lang="zh-CN" altLang="en-US" dirty="0" smtClean="0">
                <a:sym typeface="+mn-ea"/>
              </a:rPr>
              <a:t>. 用</a:t>
            </a:r>
            <a:r>
              <a:rPr lang="en-US" altLang="zh-CN" dirty="0" smtClean="0">
                <a:sym typeface="+mn-ea"/>
              </a:rPr>
              <a:t>Git</a:t>
            </a:r>
            <a:r>
              <a:rPr lang="zh-CN" altLang="en-US" dirty="0" smtClean="0">
                <a:sym typeface="+mn-ea"/>
              </a:rPr>
              <a:t>管理代码</a:t>
            </a:r>
            <a:r>
              <a:rPr lang="en-US" altLang="zh-CN" dirty="0" smtClean="0">
                <a:sym typeface="+mn-ea"/>
              </a:rPr>
              <a:t>--</a:t>
            </a:r>
            <a:r>
              <a:rPr lang="zh-CN" altLang="en-US" dirty="0" smtClean="0">
                <a:sym typeface="+mn-ea"/>
              </a:rPr>
              <a:t>Gitee仓库的创建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如右图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51237" y="1156335"/>
            <a:ext cx="7035963" cy="525658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sym typeface="+mn-ea"/>
              </a:rPr>
              <a:t>7</a:t>
            </a:r>
            <a:r>
              <a:rPr lang="zh-CN" altLang="en-US" dirty="0" smtClean="0">
                <a:sym typeface="+mn-ea"/>
              </a:rPr>
              <a:t>. 用</a:t>
            </a:r>
            <a:r>
              <a:rPr lang="en-US" altLang="zh-CN" dirty="0" smtClean="0">
                <a:sym typeface="+mn-ea"/>
              </a:rPr>
              <a:t>Git</a:t>
            </a:r>
            <a:r>
              <a:rPr lang="zh-CN" altLang="en-US" dirty="0" smtClean="0">
                <a:sym typeface="+mn-ea"/>
              </a:rPr>
              <a:t>管理代码</a:t>
            </a:r>
            <a:r>
              <a:rPr lang="en-US" altLang="zh-CN" dirty="0" smtClean="0">
                <a:sym typeface="+mn-ea"/>
              </a:rPr>
              <a:t>--</a:t>
            </a:r>
            <a:r>
              <a:rPr lang="zh-CN" altLang="en-US" dirty="0" smtClean="0">
                <a:sym typeface="+mn-ea"/>
              </a:rPr>
              <a:t>Gitee仓库的创建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创建成功后的仓库信息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43672" y="1684910"/>
            <a:ext cx="8543226" cy="517309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sym typeface="+mn-ea"/>
              </a:rPr>
              <a:t>7</a:t>
            </a:r>
            <a:r>
              <a:rPr lang="zh-CN" altLang="en-US" dirty="0" smtClean="0">
                <a:sym typeface="+mn-ea"/>
              </a:rPr>
              <a:t>. 用</a:t>
            </a:r>
            <a:r>
              <a:rPr lang="en-US" altLang="zh-CN" dirty="0" smtClean="0">
                <a:sym typeface="+mn-ea"/>
              </a:rPr>
              <a:t>Git</a:t>
            </a:r>
            <a:r>
              <a:rPr lang="zh-CN" altLang="en-US" dirty="0" smtClean="0">
                <a:sym typeface="+mn-ea"/>
              </a:rPr>
              <a:t>管理代码</a:t>
            </a:r>
            <a:r>
              <a:rPr lang="en-US" altLang="zh-CN" dirty="0" smtClean="0">
                <a:sym typeface="+mn-ea"/>
              </a:rPr>
              <a:t>--VS Code</a:t>
            </a:r>
            <a:r>
              <a:rPr lang="zh-CN" altLang="en-US" dirty="0" smtClean="0">
                <a:sym typeface="+mn-ea"/>
              </a:rPr>
              <a:t>与</a:t>
            </a:r>
            <a:r>
              <a:rPr lang="en-US" altLang="zh-CN" dirty="0" smtClean="0">
                <a:sym typeface="+mn-ea"/>
              </a:rPr>
              <a:t>Gitee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本机安装</a:t>
            </a:r>
            <a:r>
              <a:rPr lang="en-US" altLang="zh-CN" dirty="0"/>
              <a:t>git</a:t>
            </a:r>
            <a:r>
              <a:rPr lang="zh-CN" altLang="en-US" dirty="0"/>
              <a:t>软件  </a:t>
            </a:r>
            <a:r>
              <a:rPr lang="en-US" altLang="zh-CN" dirty="0">
                <a:hlinkClick r:id="rId1"/>
              </a:rPr>
              <a:t>https://git-scm.com/download/win</a:t>
            </a:r>
            <a:r>
              <a:rPr lang="en-US" altLang="zh-CN" dirty="0"/>
              <a:t> </a:t>
            </a:r>
            <a:endParaRPr lang="en-US" altLang="zh-CN" dirty="0"/>
          </a:p>
          <a:p>
            <a:r>
              <a:rPr lang="zh-CN" altLang="en-US" dirty="0"/>
              <a:t>然后在</a:t>
            </a:r>
            <a:r>
              <a:rPr lang="en-US" altLang="zh-CN" dirty="0" err="1"/>
              <a:t>vscode</a:t>
            </a:r>
            <a:r>
              <a:rPr lang="zh-CN" altLang="en-US" dirty="0"/>
              <a:t>中刷新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3752" y="2465069"/>
            <a:ext cx="5895975" cy="296227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sym typeface="+mn-ea"/>
              </a:rPr>
              <a:t>7</a:t>
            </a:r>
            <a:r>
              <a:rPr lang="zh-CN" altLang="en-US" dirty="0" smtClean="0">
                <a:sym typeface="+mn-ea"/>
              </a:rPr>
              <a:t>. 用</a:t>
            </a:r>
            <a:r>
              <a:rPr lang="en-US" altLang="zh-CN" dirty="0" smtClean="0">
                <a:sym typeface="+mn-ea"/>
              </a:rPr>
              <a:t>Git</a:t>
            </a:r>
            <a:r>
              <a:rPr lang="zh-CN" altLang="en-US" dirty="0" smtClean="0">
                <a:sym typeface="+mn-ea"/>
              </a:rPr>
              <a:t>管理代码</a:t>
            </a:r>
            <a:r>
              <a:rPr lang="en-US" altLang="zh-CN" dirty="0" smtClean="0">
                <a:sym typeface="+mn-ea"/>
              </a:rPr>
              <a:t>--</a:t>
            </a:r>
            <a:r>
              <a:rPr lang="zh-CN" altLang="en-US" dirty="0"/>
              <a:t>配置本机</a:t>
            </a:r>
            <a:r>
              <a:rPr lang="en-US" altLang="zh-CN" dirty="0"/>
              <a:t>Git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运行</a:t>
            </a:r>
            <a:r>
              <a:rPr lang="en-US" altLang="zh-CN" dirty="0" err="1"/>
              <a:t>GitBash</a:t>
            </a:r>
            <a:r>
              <a:rPr lang="zh-CN" altLang="en-US" dirty="0"/>
              <a:t>，配置</a:t>
            </a:r>
            <a:r>
              <a:rPr lang="en-US" altLang="zh-CN" dirty="0"/>
              <a:t>Git</a:t>
            </a:r>
            <a:endParaRPr lang="en-US" altLang="zh-CN" dirty="0"/>
          </a:p>
          <a:p>
            <a:pPr lvl="1"/>
            <a:r>
              <a:rPr lang="en-US" altLang="zh-CN" dirty="0"/>
              <a:t>git config --global </a:t>
            </a:r>
            <a:r>
              <a:rPr lang="en-US" altLang="zh-CN" dirty="0" err="1"/>
              <a:t>user.email</a:t>
            </a:r>
            <a:r>
              <a:rPr lang="en-US" altLang="zh-CN" dirty="0"/>
              <a:t> "</a:t>
            </a:r>
            <a:r>
              <a:rPr lang="en-US" altLang="zh-CN" b="0" dirty="0"/>
              <a:t> xxyyzz@xxx.com</a:t>
            </a:r>
            <a:r>
              <a:rPr lang="en-US" altLang="zh-CN" dirty="0"/>
              <a:t>"</a:t>
            </a:r>
            <a:endParaRPr lang="en-US" altLang="zh-CN" dirty="0"/>
          </a:p>
          <a:p>
            <a:pPr lvl="1"/>
            <a:r>
              <a:rPr lang="en-US" altLang="zh-CN" dirty="0"/>
              <a:t>git config --global user.name “</a:t>
            </a:r>
            <a:r>
              <a:rPr lang="en-US" altLang="zh-CN" b="0" dirty="0" err="1"/>
              <a:t>yourname</a:t>
            </a:r>
            <a:r>
              <a:rPr lang="en-US" altLang="zh-CN" b="0" dirty="0"/>
              <a:t>”</a:t>
            </a:r>
            <a:endParaRPr lang="en-US" altLang="zh-CN" dirty="0"/>
          </a:p>
          <a:p>
            <a:pPr lvl="1"/>
            <a:r>
              <a:rPr lang="en-US" altLang="zh-CN" dirty="0"/>
              <a:t>git config --global </a:t>
            </a:r>
            <a:r>
              <a:rPr lang="en-US" altLang="zh-CN" dirty="0" err="1"/>
              <a:t>crendential.helper</a:t>
            </a:r>
            <a:r>
              <a:rPr lang="en-US" altLang="zh-CN" dirty="0"/>
              <a:t> store</a:t>
            </a:r>
            <a:endParaRPr lang="en-US" altLang="zh-CN" dirty="0"/>
          </a:p>
          <a:p>
            <a:pPr lvl="1"/>
            <a:endParaRPr lang="en-US" altLang="zh-CN" dirty="0"/>
          </a:p>
          <a:p>
            <a:r>
              <a:rPr lang="en-US" altLang="zh-CN" dirty="0" err="1"/>
              <a:t>yourname：你注册gitee时的用户名</a:t>
            </a:r>
            <a:endParaRPr lang="en-US" altLang="zh-CN" dirty="0" err="1"/>
          </a:p>
          <a:p>
            <a:endParaRPr lang="en-US" altLang="zh-CN" dirty="0" err="1"/>
          </a:p>
          <a:p>
            <a:r>
              <a:rPr lang="en-US" altLang="zh-CN" dirty="0" err="1"/>
              <a:t>xxyyzz@xxx.com：gitee里面的主邮箱</a:t>
            </a:r>
            <a:endParaRPr lang="en-US" altLang="zh-CN" dirty="0" err="1"/>
          </a:p>
          <a:p>
            <a:endParaRPr lang="en-US" altLang="zh-CN" dirty="0" err="1"/>
          </a:p>
          <a:p>
            <a:r>
              <a:rPr lang="en-US" altLang="zh-CN" dirty="0" err="1"/>
              <a:t>第三句是记住前两句配置</a:t>
            </a:r>
            <a:endParaRPr lang="en-US" altLang="zh-CN" dirty="0" err="1"/>
          </a:p>
          <a:p>
            <a:pPr marL="457200" lvl="1" indent="0">
              <a:buNone/>
            </a:pPr>
            <a:endParaRPr lang="en-US" altLang="zh-CN" dirty="0"/>
          </a:p>
          <a:p>
            <a:pPr lvl="1"/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45167" y="104775"/>
            <a:ext cx="9448800" cy="685800"/>
          </a:xfrm>
        </p:spPr>
        <p:txBody>
          <a:bodyPr/>
          <a:lstStyle/>
          <a:p>
            <a:r>
              <a:rPr lang="en-US" altLang="zh-CN" dirty="0" smtClean="0">
                <a:sym typeface="+mn-ea"/>
              </a:rPr>
              <a:t>7</a:t>
            </a:r>
            <a:r>
              <a:rPr lang="zh-CN" altLang="en-US" dirty="0" smtClean="0">
                <a:sym typeface="+mn-ea"/>
              </a:rPr>
              <a:t>. 用</a:t>
            </a:r>
            <a:r>
              <a:rPr lang="en-US" altLang="zh-CN" dirty="0" smtClean="0">
                <a:sym typeface="+mn-ea"/>
              </a:rPr>
              <a:t>Git</a:t>
            </a:r>
            <a:r>
              <a:rPr lang="zh-CN" altLang="en-US" dirty="0" smtClean="0">
                <a:sym typeface="+mn-ea"/>
              </a:rPr>
              <a:t>管理代码</a:t>
            </a:r>
            <a:r>
              <a:rPr lang="en-US" altLang="zh-CN" dirty="0" smtClean="0">
                <a:sym typeface="+mn-ea"/>
              </a:rPr>
              <a:t>--</a:t>
            </a:r>
            <a:r>
              <a:rPr lang="zh-CN" altLang="en-US" dirty="0">
                <a:sym typeface="+mn-ea"/>
              </a:rPr>
              <a:t>配置本机</a:t>
            </a:r>
            <a:r>
              <a:rPr lang="en-US" altLang="zh-CN" dirty="0">
                <a:sym typeface="+mn-ea"/>
              </a:rPr>
              <a:t>Git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生成本地的</a:t>
            </a:r>
            <a:r>
              <a:rPr lang="en-US" altLang="zh-CN" dirty="0"/>
              <a:t>SSH</a:t>
            </a:r>
            <a:r>
              <a:rPr lang="zh-CN" altLang="en-US" dirty="0"/>
              <a:t>公钥</a:t>
            </a:r>
            <a:endParaRPr lang="en-US" altLang="zh-CN" dirty="0"/>
          </a:p>
          <a:p>
            <a:r>
              <a:rPr lang="zh-CN" altLang="en-US" dirty="0"/>
              <a:t>将</a:t>
            </a:r>
            <a:r>
              <a:rPr lang="en-US" altLang="zh-CN" dirty="0"/>
              <a:t>SSH</a:t>
            </a:r>
            <a:r>
              <a:rPr lang="zh-CN" altLang="en-US" dirty="0"/>
              <a:t>公钥保存到</a:t>
            </a:r>
            <a:r>
              <a:rPr lang="en-US" altLang="zh-CN" dirty="0" err="1"/>
              <a:t>Gitee</a:t>
            </a:r>
            <a:r>
              <a:rPr lang="zh-CN" altLang="en-US" dirty="0"/>
              <a:t>中（</a:t>
            </a:r>
            <a:r>
              <a:rPr lang="zh-CN" altLang="en-US" b="0" dirty="0">
                <a:effectLst/>
              </a:rPr>
              <a:t>使</a:t>
            </a:r>
            <a:r>
              <a:rPr lang="zh-CN" altLang="en-US" dirty="0">
                <a:effectLst/>
              </a:rPr>
              <a:t>本地仓库</a:t>
            </a:r>
            <a:r>
              <a:rPr lang="zh-CN" altLang="en-US" b="0" dirty="0">
                <a:effectLst/>
              </a:rPr>
              <a:t>和</a:t>
            </a:r>
            <a:r>
              <a:rPr lang="zh-CN" altLang="en-US" dirty="0">
                <a:effectLst/>
              </a:rPr>
              <a:t>云端仓库</a:t>
            </a:r>
            <a:r>
              <a:rPr lang="zh-CN" altLang="en-US" b="0" dirty="0">
                <a:effectLst/>
              </a:rPr>
              <a:t>交换代码不需要每次都输入密码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>
                <a:effectLst/>
              </a:rPr>
              <a:t>本地连接云端</a:t>
            </a:r>
            <a:endParaRPr lang="zh-CN" altLang="en-US" dirty="0">
              <a:effectLst/>
            </a:endParaRPr>
          </a:p>
          <a:p>
            <a:pPr lvl="1"/>
            <a:r>
              <a:rPr lang="zh-CN" altLang="en-US" dirty="0"/>
              <a:t>直接从</a:t>
            </a:r>
            <a:r>
              <a:rPr lang="en-US" altLang="zh-CN" dirty="0" err="1"/>
              <a:t>gitee</a:t>
            </a:r>
            <a:r>
              <a:rPr lang="zh-CN" altLang="en-US" dirty="0"/>
              <a:t>上复制</a:t>
            </a:r>
            <a:r>
              <a:rPr lang="en-US" altLang="zh-CN" dirty="0" err="1"/>
              <a:t>ssh</a:t>
            </a:r>
            <a:r>
              <a:rPr lang="zh-CN" altLang="en-US" dirty="0"/>
              <a:t>链接，在本地</a:t>
            </a:r>
            <a:r>
              <a:rPr lang="en-US" altLang="zh-CN" dirty="0" err="1"/>
              <a:t>vscode</a:t>
            </a:r>
            <a:r>
              <a:rPr lang="zh-CN" altLang="en-US" dirty="0"/>
              <a:t>克隆</a:t>
            </a:r>
            <a:endParaRPr lang="en-US" altLang="zh-CN" dirty="0"/>
          </a:p>
          <a:p>
            <a:pPr lvl="1"/>
            <a:r>
              <a:rPr lang="zh-CN" altLang="en-US" dirty="0"/>
              <a:t>本地新建的文件夹同步到云端仓库</a:t>
            </a:r>
            <a:endParaRPr lang="zh-CN" altLang="en-US" dirty="0"/>
          </a:p>
          <a:p>
            <a:pPr lvl="1"/>
            <a:endParaRPr lang="en-US" altLang="zh-CN" dirty="0"/>
          </a:p>
          <a:p>
            <a:r>
              <a:rPr lang="zh-CN" altLang="en-US" dirty="0">
                <a:effectLst/>
              </a:rPr>
              <a:t>提交你的第一次代码</a:t>
            </a:r>
            <a:endParaRPr lang="zh-CN" altLang="en-US" dirty="0">
              <a:effectLst/>
            </a:endParaRP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sym typeface="+mn-ea"/>
              </a:rPr>
              <a:t>7</a:t>
            </a:r>
            <a:r>
              <a:rPr lang="zh-CN" altLang="en-US" dirty="0" smtClean="0">
                <a:sym typeface="+mn-ea"/>
              </a:rPr>
              <a:t>. 用</a:t>
            </a:r>
            <a:r>
              <a:rPr lang="en-US" altLang="zh-CN" dirty="0" smtClean="0">
                <a:sym typeface="+mn-ea"/>
              </a:rPr>
              <a:t>Git</a:t>
            </a:r>
            <a:r>
              <a:rPr lang="zh-CN" altLang="en-US" dirty="0" smtClean="0">
                <a:sym typeface="+mn-ea"/>
              </a:rPr>
              <a:t>管理代码--</a:t>
            </a:r>
            <a:r>
              <a:rPr lang="zh-CN" altLang="en-US" dirty="0" smtClean="0"/>
              <a:t>非对称加密</a:t>
            </a:r>
            <a:endParaRPr lang="zh-CN" altLang="en-US" dirty="0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atinLnBrk="0">
              <a:lnSpc>
                <a:spcPct val="150000"/>
              </a:lnSpc>
              <a:spcBef>
                <a:spcPts val="1200"/>
              </a:spcBef>
            </a:pPr>
            <a:r>
              <a:rPr lang="zh-CN" sz="2400" dirty="0"/>
              <a:t>非对称加密是指一种加密和解密使用不同</a:t>
            </a:r>
            <a:r>
              <a:rPr lang="zh-CN" altLang="en-US" sz="2400"/>
              <a:t>密钥</a:t>
            </a:r>
            <a:r>
              <a:rPr lang="zh-CN" sz="2400" dirty="0"/>
              <a:t>的加密方法，两个</a:t>
            </a:r>
            <a:r>
              <a:rPr lang="zh-CN" altLang="en-US" sz="2400"/>
              <a:t>密钥</a:t>
            </a:r>
            <a:r>
              <a:rPr lang="zh-CN" sz="2400" dirty="0"/>
              <a:t>可以互为加解密</a:t>
            </a:r>
            <a:r>
              <a:rPr lang="zh-CN" altLang="en-US" sz="2400"/>
              <a:t>密钥，例如：</a:t>
            </a:r>
            <a:r>
              <a:rPr lang="en-US" altLang="zh-CN" sz="2400"/>
              <a:t>RSA</a:t>
            </a:r>
            <a:r>
              <a:rPr lang="zh-CN" altLang="en-US" sz="2400"/>
              <a:t>、</a:t>
            </a:r>
            <a:r>
              <a:rPr lang="en-US" altLang="zh-CN" sz="2400"/>
              <a:t>ECC</a:t>
            </a:r>
            <a:r>
              <a:rPr lang="zh-CN" altLang="en-US" sz="2400"/>
              <a:t>等</a:t>
            </a:r>
            <a:r>
              <a:rPr lang="zh-CN" sz="2400" dirty="0"/>
              <a:t>。</a:t>
            </a:r>
            <a:endParaRPr lang="zh-CN" sz="2400" dirty="0"/>
          </a:p>
          <a:p>
            <a:pPr latinLnBrk="0">
              <a:lnSpc>
                <a:spcPct val="150000"/>
              </a:lnSpc>
              <a:spcBef>
                <a:spcPts val="1200"/>
              </a:spcBef>
            </a:pPr>
            <a:r>
              <a:rPr lang="zh-CN" altLang="de-DE" sz="2400" dirty="0"/>
              <a:t>非对称加密体系中，将其中一个密钥公开成为公钥，另一个保密成为私钥。它具有如下特点：</a:t>
            </a:r>
            <a:endParaRPr lang="zh-CN" altLang="de-DE" sz="2400" dirty="0"/>
          </a:p>
          <a:p>
            <a:pPr marL="0" indent="0" latinLnBrk="0">
              <a:lnSpc>
                <a:spcPct val="150000"/>
              </a:lnSpc>
              <a:spcBef>
                <a:spcPts val="1200"/>
              </a:spcBef>
              <a:buNone/>
            </a:pPr>
            <a:r>
              <a:rPr lang="zh-CN" altLang="en-US" sz="2400"/>
              <a:t>（</a:t>
            </a:r>
            <a:r>
              <a:rPr lang="en-US" altLang="zh-CN" sz="2400"/>
              <a:t>1</a:t>
            </a:r>
            <a:r>
              <a:rPr lang="zh-CN" altLang="en-US" sz="2400"/>
              <a:t>）</a:t>
            </a:r>
            <a:r>
              <a:rPr lang="en-US" altLang="zh-CN" sz="2400"/>
              <a:t> </a:t>
            </a:r>
            <a:r>
              <a:rPr lang="zh-CN" altLang="en-US" sz="2400"/>
              <a:t>提供了安全性：私钥是保密的，只有密钥的持有者才能解密信息；</a:t>
            </a:r>
            <a:endParaRPr lang="en-US" altLang="zh-CN" sz="2400"/>
          </a:p>
          <a:p>
            <a:pPr marL="0" indent="0" latinLnBrk="0">
              <a:lnSpc>
                <a:spcPct val="150000"/>
              </a:lnSpc>
              <a:spcBef>
                <a:spcPts val="1200"/>
              </a:spcBef>
              <a:buNone/>
            </a:pPr>
            <a:r>
              <a:rPr lang="zh-CN" altLang="en-US" sz="2400"/>
              <a:t>（</a:t>
            </a:r>
            <a:r>
              <a:rPr lang="en-US" altLang="zh-CN" sz="2400"/>
              <a:t>2</a:t>
            </a:r>
            <a:r>
              <a:rPr lang="zh-CN" altLang="en-US" sz="2400"/>
              <a:t>）密钥分发问题：因为公钥是公开的，分发公钥的过程不需要保密；</a:t>
            </a:r>
            <a:endParaRPr lang="en-US" altLang="zh-CN" sz="2400"/>
          </a:p>
          <a:p>
            <a:pPr marL="0" indent="0" latinLnBrk="0">
              <a:lnSpc>
                <a:spcPct val="150000"/>
              </a:lnSpc>
              <a:spcBef>
                <a:spcPts val="1200"/>
              </a:spcBef>
              <a:buNone/>
            </a:pPr>
            <a:r>
              <a:rPr lang="zh-CN" altLang="en-US" sz="2400"/>
              <a:t>（</a:t>
            </a:r>
            <a:r>
              <a:rPr lang="en-US" altLang="zh-CN" sz="2400"/>
              <a:t>3</a:t>
            </a:r>
            <a:r>
              <a:rPr lang="zh-CN" altLang="en-US" sz="2400"/>
              <a:t>）认证：非对称密码可以用于数字签名，能验证发送者的身份，不能抵赖；</a:t>
            </a:r>
            <a:endParaRPr lang="zh-CN" altLang="en-US" sz="2400"/>
          </a:p>
          <a:p>
            <a:pPr marL="0" indent="0" latinLnBrk="0">
              <a:lnSpc>
                <a:spcPct val="150000"/>
              </a:lnSpc>
              <a:spcBef>
                <a:spcPts val="1200"/>
              </a:spcBef>
              <a:buNone/>
            </a:pPr>
            <a:r>
              <a:rPr lang="zh-CN" altLang="en-US" sz="2400"/>
              <a:t>（</a:t>
            </a:r>
            <a:r>
              <a:rPr lang="en-US" altLang="zh-CN" sz="2400"/>
              <a:t>4</a:t>
            </a:r>
            <a:r>
              <a:rPr lang="zh-CN" altLang="en-US" sz="2400"/>
              <a:t>）可扩展性：每个用户只需要生成自己的公钥和私钥对。</a:t>
            </a:r>
            <a:endParaRPr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sym typeface="+mn-ea"/>
              </a:rPr>
              <a:t>7</a:t>
            </a:r>
            <a:r>
              <a:rPr lang="zh-CN" altLang="en-US" dirty="0" smtClean="0">
                <a:sym typeface="+mn-ea"/>
              </a:rPr>
              <a:t>. 用</a:t>
            </a:r>
            <a:r>
              <a:rPr lang="en-US" altLang="zh-CN" dirty="0" smtClean="0">
                <a:sym typeface="+mn-ea"/>
              </a:rPr>
              <a:t>Git</a:t>
            </a:r>
            <a:r>
              <a:rPr lang="zh-CN" altLang="en-US" dirty="0" smtClean="0">
                <a:sym typeface="+mn-ea"/>
              </a:rPr>
              <a:t>管理代码--</a:t>
            </a:r>
            <a:r>
              <a:rPr lang="zh-CN" altLang="en-US" dirty="0" smtClean="0"/>
              <a:t>生成本地的SSH公钥</a:t>
            </a:r>
            <a:endParaRPr lang="zh-CN" altLang="en-US" dirty="0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altLang="zh-CN" dirty="0"/>
              <a:t>ssh-keygen -t rsa -C “</a:t>
            </a:r>
            <a:r>
              <a:rPr lang="en-US" altLang="zh-CN" dirty="0" err="1"/>
              <a:t>xxxx</a:t>
            </a:r>
            <a:r>
              <a:rPr lang="de-DE" altLang="zh-CN" dirty="0"/>
              <a:t>@xxxx.cn"</a:t>
            </a:r>
            <a:endParaRPr lang="de-DE" altLang="zh-CN" dirty="0"/>
          </a:p>
          <a:p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1384" y="1700808"/>
            <a:ext cx="4608512" cy="2937293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92" y="4756385"/>
            <a:ext cx="5094709" cy="1129021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599" y="5939268"/>
            <a:ext cx="11687175" cy="74295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176" y="2050645"/>
            <a:ext cx="3566048" cy="379112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sym typeface="+mn-ea"/>
              </a:rPr>
              <a:t>7</a:t>
            </a:r>
            <a:r>
              <a:rPr lang="zh-CN" altLang="en-US" dirty="0" smtClean="0">
                <a:sym typeface="+mn-ea"/>
              </a:rPr>
              <a:t>. 用</a:t>
            </a:r>
            <a:r>
              <a:rPr lang="en-US" altLang="zh-CN" dirty="0" smtClean="0">
                <a:sym typeface="+mn-ea"/>
              </a:rPr>
              <a:t>Git</a:t>
            </a:r>
            <a:r>
              <a:rPr lang="zh-CN" altLang="en-US" dirty="0" smtClean="0">
                <a:sym typeface="+mn-ea"/>
              </a:rPr>
              <a:t>管理代码</a:t>
            </a:r>
            <a:r>
              <a:rPr lang="en-US" altLang="zh-CN" dirty="0" smtClean="0">
                <a:sym typeface="+mn-ea"/>
              </a:rPr>
              <a:t>--</a:t>
            </a:r>
            <a:r>
              <a:rPr lang="en-US" altLang="zh-CN" dirty="0"/>
              <a:t>SSH</a:t>
            </a:r>
            <a:r>
              <a:rPr lang="zh-CN" altLang="en-US" dirty="0"/>
              <a:t>公钥保存到</a:t>
            </a:r>
            <a:r>
              <a:rPr lang="en-US" altLang="zh-CN" dirty="0" err="1"/>
              <a:t>Gitee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48" y="2132856"/>
            <a:ext cx="1819275" cy="32575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5482" y="1747857"/>
            <a:ext cx="8680118" cy="439669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sym typeface="+mn-ea"/>
              </a:rPr>
              <a:t>7</a:t>
            </a:r>
            <a:r>
              <a:rPr lang="zh-CN" altLang="en-US" dirty="0" smtClean="0">
                <a:sym typeface="+mn-ea"/>
              </a:rPr>
              <a:t>. 用</a:t>
            </a:r>
            <a:r>
              <a:rPr lang="en-US" altLang="zh-CN" dirty="0" smtClean="0">
                <a:sym typeface="+mn-ea"/>
              </a:rPr>
              <a:t>Git</a:t>
            </a:r>
            <a:r>
              <a:rPr lang="zh-CN" altLang="en-US" dirty="0" smtClean="0">
                <a:sym typeface="+mn-ea"/>
              </a:rPr>
              <a:t>管理代码</a:t>
            </a:r>
            <a:r>
              <a:rPr lang="en-US" altLang="zh-CN" dirty="0" smtClean="0">
                <a:sym typeface="+mn-ea"/>
              </a:rPr>
              <a:t>--</a:t>
            </a:r>
            <a:r>
              <a:rPr lang="zh-CN" altLang="en-US" dirty="0"/>
              <a:t>本地绑定</a:t>
            </a:r>
            <a:r>
              <a:rPr lang="en-US" altLang="zh-CN" dirty="0" err="1"/>
              <a:t>ssh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Ssh</a:t>
            </a:r>
            <a:r>
              <a:rPr lang="en-US" altLang="zh-CN" dirty="0"/>
              <a:t> –T </a:t>
            </a:r>
            <a:r>
              <a:rPr lang="en-US" altLang="zh-CN" dirty="0">
                <a:hlinkClick r:id="rId1"/>
              </a:rPr>
              <a:t>git@gitee.com</a:t>
            </a:r>
            <a:r>
              <a:rPr lang="en-US" altLang="zh-CN" dirty="0"/>
              <a:t> </a:t>
            </a:r>
            <a:endParaRPr lang="en-US" altLang="zh-CN" dirty="0"/>
          </a:p>
          <a:p>
            <a:r>
              <a:rPr lang="zh-CN" altLang="en-US" dirty="0"/>
              <a:t>查错可用 </a:t>
            </a:r>
            <a:r>
              <a:rPr lang="en-US" altLang="zh-CN" dirty="0" err="1"/>
              <a:t>ssh</a:t>
            </a:r>
            <a:r>
              <a:rPr lang="en-US" altLang="zh-CN" dirty="0"/>
              <a:t> –T –v git@gitee.com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456" y="4509120"/>
            <a:ext cx="7591425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sym typeface="+mn-ea"/>
              </a:rPr>
              <a:t>7</a:t>
            </a:r>
            <a:r>
              <a:rPr lang="zh-CN" altLang="en-US" dirty="0" smtClean="0">
                <a:sym typeface="+mn-ea"/>
              </a:rPr>
              <a:t>. 用</a:t>
            </a:r>
            <a:r>
              <a:rPr lang="en-US" altLang="zh-CN" dirty="0" smtClean="0">
                <a:sym typeface="+mn-ea"/>
              </a:rPr>
              <a:t>Git</a:t>
            </a:r>
            <a:r>
              <a:rPr lang="zh-CN" altLang="en-US" dirty="0" smtClean="0">
                <a:sym typeface="+mn-ea"/>
              </a:rPr>
              <a:t>管理代码</a:t>
            </a:r>
            <a:r>
              <a:rPr lang="en-US" altLang="zh-CN" dirty="0" smtClean="0">
                <a:sym typeface="+mn-ea"/>
              </a:rPr>
              <a:t>--</a:t>
            </a:r>
            <a:r>
              <a:rPr lang="zh-CN" altLang="en-US" dirty="0"/>
              <a:t>在本地</a:t>
            </a:r>
            <a:r>
              <a:rPr lang="en-US" altLang="zh-CN" dirty="0" err="1"/>
              <a:t>vscode</a:t>
            </a:r>
            <a:r>
              <a:rPr lang="zh-CN" altLang="en-US" dirty="0"/>
              <a:t>克隆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9376" y="1700808"/>
            <a:ext cx="9133096" cy="4283601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sym typeface="+mn-ea"/>
              </a:rPr>
              <a:t>7</a:t>
            </a:r>
            <a:r>
              <a:rPr lang="zh-CN" altLang="en-US" dirty="0" smtClean="0">
                <a:sym typeface="+mn-ea"/>
              </a:rPr>
              <a:t>. 用</a:t>
            </a:r>
            <a:r>
              <a:rPr lang="en-US" altLang="zh-CN" dirty="0" smtClean="0">
                <a:sym typeface="+mn-ea"/>
              </a:rPr>
              <a:t>Git</a:t>
            </a:r>
            <a:r>
              <a:rPr lang="zh-CN" altLang="en-US" dirty="0" smtClean="0">
                <a:sym typeface="+mn-ea"/>
              </a:rPr>
              <a:t>管理代码</a:t>
            </a:r>
            <a:r>
              <a:rPr lang="en-US" altLang="zh-CN" dirty="0" smtClean="0">
                <a:sym typeface="+mn-ea"/>
              </a:rPr>
              <a:t>--</a:t>
            </a:r>
            <a:r>
              <a:rPr lang="zh-CN" altLang="en-US" dirty="0">
                <a:sym typeface="+mn-ea"/>
              </a:rPr>
              <a:t>在本地</a:t>
            </a:r>
            <a:r>
              <a:rPr lang="en-US" altLang="zh-CN" dirty="0" err="1">
                <a:sym typeface="+mn-ea"/>
              </a:rPr>
              <a:t>vscode</a:t>
            </a:r>
            <a:r>
              <a:rPr lang="zh-CN" altLang="en-US" dirty="0">
                <a:sym typeface="+mn-ea"/>
              </a:rPr>
              <a:t>克隆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344" y="2469056"/>
            <a:ext cx="8334375" cy="38576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3792" y="3781777"/>
            <a:ext cx="5763706" cy="324896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9875" y="765351"/>
            <a:ext cx="7343775" cy="181927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sym typeface="+mn-ea"/>
              </a:rPr>
              <a:t>7</a:t>
            </a:r>
            <a:r>
              <a:rPr lang="zh-CN" altLang="en-US" dirty="0" smtClean="0">
                <a:sym typeface="+mn-ea"/>
              </a:rPr>
              <a:t>. 用</a:t>
            </a:r>
            <a:r>
              <a:rPr lang="en-US" altLang="zh-CN" dirty="0" smtClean="0">
                <a:sym typeface="+mn-ea"/>
              </a:rPr>
              <a:t>Git</a:t>
            </a:r>
            <a:r>
              <a:rPr lang="zh-CN" altLang="en-US" dirty="0" smtClean="0">
                <a:sym typeface="+mn-ea"/>
              </a:rPr>
              <a:t>管理代码</a:t>
            </a:r>
            <a:r>
              <a:rPr lang="en-US" altLang="zh-CN" dirty="0" smtClean="0">
                <a:sym typeface="+mn-ea"/>
              </a:rPr>
              <a:t>--</a:t>
            </a:r>
            <a:r>
              <a:rPr lang="en-US" altLang="zh-CN" dirty="0" err="1"/>
              <a:t>VSCode</a:t>
            </a:r>
            <a:r>
              <a:rPr lang="zh-CN" altLang="en-US" dirty="0"/>
              <a:t>代码的更新过程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503713" y="1143793"/>
            <a:ext cx="8136904" cy="26003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368" y="1124744"/>
            <a:ext cx="3038475" cy="263842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325" y="3813531"/>
            <a:ext cx="3243777" cy="1415669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2230" y="3638470"/>
            <a:ext cx="4550643" cy="149038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364" y="5245450"/>
            <a:ext cx="3319697" cy="1525001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1085" y="4673650"/>
            <a:ext cx="5543551" cy="208111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sym typeface="+mn-ea"/>
              </a:rPr>
              <a:t>7</a:t>
            </a:r>
            <a:r>
              <a:rPr lang="zh-CN" altLang="en-US" dirty="0" smtClean="0">
                <a:sym typeface="+mn-ea"/>
              </a:rPr>
              <a:t>. 用</a:t>
            </a:r>
            <a:r>
              <a:rPr lang="en-US" altLang="zh-CN" dirty="0" smtClean="0">
                <a:sym typeface="+mn-ea"/>
              </a:rPr>
              <a:t>Git</a:t>
            </a:r>
            <a:r>
              <a:rPr lang="zh-CN" altLang="en-US" dirty="0" smtClean="0">
                <a:sym typeface="+mn-ea"/>
              </a:rPr>
              <a:t>管理代码</a:t>
            </a:r>
            <a:r>
              <a:rPr lang="en-US" altLang="zh-CN" dirty="0" smtClean="0">
                <a:sym typeface="+mn-ea"/>
              </a:rPr>
              <a:t>--</a:t>
            </a:r>
            <a:r>
              <a:rPr lang="en-US" altLang="zh-CN" dirty="0" err="1"/>
              <a:t>VSCode</a:t>
            </a:r>
            <a:r>
              <a:rPr lang="zh-CN" altLang="en-US" dirty="0"/>
              <a:t>代码的分支</a:t>
            </a:r>
            <a:endParaRPr lang="zh-CN" altLang="en-US" dirty="0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350512" y="1916832"/>
            <a:ext cx="5593727" cy="234775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424" y="1156335"/>
            <a:ext cx="4009904" cy="378904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842" y="2708920"/>
            <a:ext cx="3133725" cy="21812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2024" y="4423913"/>
            <a:ext cx="5613287" cy="2228081"/>
          </a:xfrm>
          <a:prstGeom prst="rect">
            <a:avLst/>
          </a:prstGeom>
        </p:spPr>
      </p:pic>
      <p:cxnSp>
        <p:nvCxnSpPr>
          <p:cNvPr id="9" name="直接箭头连接符 8"/>
          <p:cNvCxnSpPr/>
          <p:nvPr/>
        </p:nvCxnSpPr>
        <p:spPr bwMode="auto">
          <a:xfrm flipV="1">
            <a:off x="5087888" y="4005064"/>
            <a:ext cx="1262624" cy="64807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</p:spPr>
      </p:cxnSp>
      <p:cxnSp>
        <p:nvCxnSpPr>
          <p:cNvPr id="11" name="直接箭头连接符 10"/>
          <p:cNvCxnSpPr>
            <a:endCxn id="7" idx="1"/>
          </p:cNvCxnSpPr>
          <p:nvPr/>
        </p:nvCxnSpPr>
        <p:spPr bwMode="auto">
          <a:xfrm>
            <a:off x="4367808" y="4329100"/>
            <a:ext cx="1944216" cy="120885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 smtClean="0">
                <a:sym typeface="+mn-ea"/>
              </a:rPr>
              <a:t>7</a:t>
            </a:r>
            <a:r>
              <a:rPr lang="zh-CN" altLang="en-US" dirty="0" smtClean="0">
                <a:sym typeface="+mn-ea"/>
              </a:rPr>
              <a:t>. 用</a:t>
            </a:r>
            <a:r>
              <a:rPr lang="en-US" altLang="zh-CN" dirty="0" smtClean="0">
                <a:sym typeface="+mn-ea"/>
              </a:rPr>
              <a:t>Git</a:t>
            </a:r>
            <a:r>
              <a:rPr lang="zh-CN" altLang="en-US" dirty="0" smtClean="0">
                <a:sym typeface="+mn-ea"/>
              </a:rPr>
              <a:t>管理代码</a:t>
            </a:r>
            <a:r>
              <a:rPr lang="en-US" altLang="zh-CN" dirty="0" smtClean="0">
                <a:sym typeface="+mn-ea"/>
              </a:rPr>
              <a:t>--</a:t>
            </a:r>
            <a:r>
              <a:rPr lang="zh-CN" altLang="en-US" dirty="0" smtClean="0">
                <a:sym typeface="+mn-ea"/>
              </a:rPr>
              <a:t>课堂</a:t>
            </a:r>
            <a:r>
              <a:rPr lang="zh-CN" altLang="en-US" dirty="0" smtClean="0">
                <a:sym typeface="+mn-ea"/>
              </a:rPr>
              <a:t>练习</a:t>
            </a:r>
            <a:endParaRPr lang="zh-CN" altLang="en-US" dirty="0" smtClean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6400" y="1156335"/>
            <a:ext cx="11480800" cy="5454015"/>
          </a:xfrm>
        </p:spPr>
        <p:txBody>
          <a:bodyPr/>
          <a:p>
            <a:pPr marL="0" indent="0">
              <a:buFont typeface="Wingdings" panose="05000000000000000000" charset="0"/>
              <a:buNone/>
            </a:pPr>
            <a:r>
              <a:rPr lang="zh-CN" altLang="en-US"/>
              <a:t>练习：将代码上传至</a:t>
            </a:r>
            <a:r>
              <a:rPr lang="en-US" altLang="zh-CN"/>
              <a:t>Gitee</a:t>
            </a:r>
            <a:r>
              <a:rPr lang="zh-CN" altLang="en-US"/>
              <a:t>托管，小组内练习版本控制</a:t>
            </a:r>
            <a:endParaRPr lang="en-US" altLang="zh-CN"/>
          </a:p>
          <a:p>
            <a:pPr>
              <a:buFont typeface="Wingdings" panose="05000000000000000000" charset="0"/>
              <a:buChar char="Ø"/>
            </a:pPr>
            <a:endParaRPr lang="zh-CN" altLang="en-US"/>
          </a:p>
          <a:p>
            <a:pPr>
              <a:buFont typeface="Wingdings" panose="05000000000000000000" charset="0"/>
              <a:buChar char="Ø"/>
            </a:pPr>
            <a:r>
              <a:rPr lang="zh-CN" altLang="en-US"/>
              <a:t>在</a:t>
            </a:r>
            <a:r>
              <a:rPr lang="en-US" altLang="zh-CN"/>
              <a:t>www.gitee.com</a:t>
            </a:r>
            <a:r>
              <a:rPr lang="zh-CN" altLang="en-US"/>
              <a:t>注册</a:t>
            </a:r>
            <a:r>
              <a:rPr lang="zh-CN" altLang="en-US"/>
              <a:t>账号</a:t>
            </a:r>
            <a:endParaRPr lang="zh-CN" altLang="en-US"/>
          </a:p>
          <a:p>
            <a:pPr>
              <a:buFont typeface="Wingdings" panose="05000000000000000000" charset="0"/>
              <a:buChar char="Ø"/>
            </a:pPr>
            <a:r>
              <a:rPr lang="zh-CN" altLang="en-US"/>
              <a:t>新建一个</a:t>
            </a:r>
            <a:r>
              <a:rPr lang="zh-CN" altLang="en-US"/>
              <a:t>仓库</a:t>
            </a:r>
            <a:endParaRPr lang="zh-CN" altLang="en-US"/>
          </a:p>
          <a:p>
            <a:pPr>
              <a:buFont typeface="Wingdings" panose="05000000000000000000" charset="0"/>
              <a:buChar char="Ø"/>
            </a:pPr>
            <a:r>
              <a:rPr lang="zh-CN" altLang="en-US"/>
              <a:t>在</a:t>
            </a:r>
            <a:r>
              <a:rPr lang="en-US" altLang="zh-CN"/>
              <a:t>VS Code</a:t>
            </a:r>
            <a:r>
              <a:rPr lang="zh-CN" altLang="en-US"/>
              <a:t>中</a:t>
            </a:r>
            <a:r>
              <a:rPr lang="en-US" altLang="zh-CN"/>
              <a:t>Clone</a:t>
            </a:r>
            <a:r>
              <a:rPr lang="zh-CN" altLang="en-US"/>
              <a:t>仓库</a:t>
            </a:r>
            <a:endParaRPr lang="zh-CN" altLang="en-US"/>
          </a:p>
          <a:p>
            <a:pPr>
              <a:buFont typeface="Wingdings" panose="05000000000000000000" charset="0"/>
              <a:buChar char="Ø"/>
            </a:pPr>
            <a:r>
              <a:rPr lang="zh-CN" altLang="en-US"/>
              <a:t>成员</a:t>
            </a:r>
            <a:r>
              <a:rPr lang="en-US" altLang="zh-CN"/>
              <a:t>1</a:t>
            </a:r>
            <a:r>
              <a:rPr lang="zh-CN" altLang="en-US"/>
              <a:t>：新建、编辑文件，</a:t>
            </a:r>
            <a:r>
              <a:rPr lang="en-US" altLang="zh-CN"/>
              <a:t>commit &amp; push</a:t>
            </a:r>
            <a:r>
              <a:rPr lang="zh-CN" altLang="en-US"/>
              <a:t>到远端</a:t>
            </a:r>
            <a:r>
              <a:rPr lang="zh-CN" altLang="en-US"/>
              <a:t>仓库</a:t>
            </a:r>
            <a:endParaRPr lang="zh-CN" altLang="en-US"/>
          </a:p>
          <a:p>
            <a:pPr>
              <a:buFont typeface="Wingdings" panose="05000000000000000000" charset="0"/>
              <a:buChar char="Ø"/>
            </a:pPr>
            <a:r>
              <a:rPr lang="zh-CN" altLang="en-US"/>
              <a:t>成员</a:t>
            </a:r>
            <a:r>
              <a:rPr lang="en-US" altLang="zh-CN"/>
              <a:t>2-3</a:t>
            </a:r>
            <a:r>
              <a:rPr lang="zh-CN" altLang="en-US"/>
              <a:t>：</a:t>
            </a:r>
            <a:r>
              <a:rPr lang="en-US" altLang="zh-CN"/>
              <a:t>pull</a:t>
            </a:r>
            <a:r>
              <a:rPr lang="zh-CN" altLang="en-US"/>
              <a:t>代码</a:t>
            </a:r>
            <a:endParaRPr lang="zh-CN" altLang="en-US"/>
          </a:p>
          <a:p>
            <a:pPr>
              <a:buFont typeface="Wingdings" panose="05000000000000000000" charset="0"/>
              <a:buChar char="Ø"/>
            </a:pPr>
            <a:r>
              <a:rPr lang="zh-CN" altLang="en-US"/>
              <a:t>成员</a:t>
            </a:r>
            <a:r>
              <a:rPr lang="en-US" altLang="zh-CN"/>
              <a:t>1-3</a:t>
            </a:r>
            <a:r>
              <a:rPr lang="zh-CN" altLang="en-US"/>
              <a:t>：修改相同的文件，并</a:t>
            </a:r>
            <a:r>
              <a:rPr lang="en-US" altLang="zh-CN"/>
              <a:t>commit &amp; push</a:t>
            </a:r>
            <a:endParaRPr lang="en-US" altLang="zh-CN"/>
          </a:p>
          <a:p>
            <a:pPr>
              <a:buFont typeface="Wingdings" panose="05000000000000000000" charset="0"/>
              <a:buChar char="Ø"/>
            </a:pPr>
            <a:r>
              <a:rPr lang="zh-CN" altLang="en-US"/>
              <a:t>成员</a:t>
            </a:r>
            <a:r>
              <a:rPr lang="en-US" altLang="zh-CN"/>
              <a:t>1-3</a:t>
            </a:r>
            <a:r>
              <a:rPr lang="zh-CN" altLang="en-US"/>
              <a:t>：</a:t>
            </a:r>
            <a:r>
              <a:rPr lang="en-US" altLang="zh-CN"/>
              <a:t>pull</a:t>
            </a:r>
            <a:r>
              <a:rPr lang="zh-CN" altLang="en-US"/>
              <a:t>代码，解决</a:t>
            </a:r>
            <a:r>
              <a:rPr lang="zh-CN" altLang="en-US"/>
              <a:t>冲突</a:t>
            </a:r>
            <a:endParaRPr lang="zh-CN" altLang="en-US"/>
          </a:p>
          <a:p>
            <a:pPr>
              <a:buFont typeface="Wingdings" panose="05000000000000000000" charset="0"/>
              <a:buChar char="Ø"/>
            </a:pPr>
            <a:r>
              <a:rPr lang="zh-CN" altLang="en-US"/>
              <a:t>新建分支、切换分支、提交内容到分支、合并</a:t>
            </a:r>
            <a:r>
              <a:rPr lang="en-US" altLang="zh-CN"/>
              <a:t>merge</a:t>
            </a:r>
            <a:r>
              <a:rPr lang="zh-CN" altLang="en-US"/>
              <a:t>分支</a:t>
            </a:r>
            <a:endParaRPr lang="zh-CN" altLang="en-US"/>
          </a:p>
          <a:p>
            <a:pPr>
              <a:buFont typeface="Wingdings" panose="05000000000000000000" charset="0"/>
              <a:buChar char="Ø"/>
            </a:pP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+mj-ea"/>
                <a:sym typeface="+mn-ea"/>
              </a:rPr>
              <a:t>桌面应用：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+mj-ea"/>
                <a:sym typeface="+mn-ea"/>
              </a:rPr>
              <a:t>C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+mj-ea"/>
                <a:sym typeface="+mn-ea"/>
              </a:rPr>
              <a:t>端产品数据模拟器</a:t>
            </a:r>
            <a:endParaRPr kumimoji="1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ea"/>
              <a:ea typeface="+mj-ea"/>
              <a:cs typeface="+mj-cs"/>
            </a:endParaRPr>
          </a:p>
        </p:txBody>
      </p:sp>
      <p:sp>
        <p:nvSpPr>
          <p:cNvPr id="3074" name="内容占位符 2"/>
          <p:cNvSpPr>
            <a:spLocks noGrp="1"/>
          </p:cNvSpPr>
          <p:nvPr>
            <p:ph idx="1"/>
          </p:nvPr>
        </p:nvSpPr>
        <p:spPr>
          <a:xfrm>
            <a:off x="3935730" y="765175"/>
            <a:ext cx="6280785" cy="5582285"/>
          </a:xfrm>
        </p:spPr>
        <p:txBody>
          <a:bodyPr vert="horz" wrap="square" lIns="91440" tIns="45720" rIns="91440" bIns="45720" anchor="t" anchorCtr="0"/>
          <a:lstStyle/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kumimoji="1" lang="zh-CN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任务</a:t>
            </a:r>
            <a:r>
              <a:rPr kumimoji="1" lang="zh-CN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要求</a:t>
            </a:r>
            <a:endParaRPr kumimoji="1" lang="zh-CN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kumimoji="1" lang="zh-CN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随机数</a:t>
            </a:r>
            <a:endParaRPr kumimoji="1" lang="en-US" altLang="zh-CN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让</a:t>
            </a: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随机数符合统计规律</a:t>
            </a:r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kumimoji="1"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将结果和日志写入文件</a:t>
            </a:r>
            <a:endParaRPr kumimoji="1" lang="en-US" altLang="zh-CN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多线程</a:t>
            </a:r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GUI界面</a:t>
            </a:r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用</a:t>
            </a:r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Git</a:t>
            </a: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管理代码</a:t>
            </a:r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</a:t>
            </a:r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Linux</a:t>
            </a: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系统上部署</a:t>
            </a: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模拟器</a:t>
            </a:r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Docker</a:t>
            </a: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容器</a:t>
            </a: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技术</a:t>
            </a:r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5" name="直接箭头连接符 4"/>
          <p:cNvCxnSpPr/>
          <p:nvPr/>
        </p:nvCxnSpPr>
        <p:spPr>
          <a:xfrm>
            <a:off x="3359150" y="5733098"/>
            <a:ext cx="576263" cy="0"/>
          </a:xfrm>
          <a:prstGeom prst="straightConnector1">
            <a:avLst/>
          </a:prstGeom>
          <a:ln w="76200" cap="flat" cmpd="sng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0.00000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ym typeface="+mn-ea"/>
              </a:rPr>
              <a:t>8. 在Linux系统上部署模拟器</a:t>
            </a:r>
            <a:r>
              <a:rPr lang="en-US" altLang="zh-CN" dirty="0" smtClean="0">
                <a:sym typeface="+mn-ea"/>
              </a:rPr>
              <a:t>--Linux</a:t>
            </a:r>
            <a:r>
              <a:rPr lang="zh-CN" altLang="en-US" dirty="0" smtClean="0">
                <a:sym typeface="+mn-ea"/>
              </a:rPr>
              <a:t>简介</a:t>
            </a:r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 dirty="0"/>
              <a:t>Linux基于Unix，诞生于1991 年10 月5 日，Linux基于GPL协议，是一个自由的，免费的，源码开放的操作系统，Linux存在着许多不同的Linux版本，但它们都使用了Linux内核。</a:t>
            </a:r>
            <a:endParaRPr kumimoji="1" lang="en-US" altLang="zh-CN" dirty="0"/>
          </a:p>
          <a:p>
            <a:pPr marL="0" indent="0">
              <a:buNone/>
            </a:pPr>
            <a:endParaRPr kumimoji="1" lang="en-US" altLang="zh-CN" dirty="0"/>
          </a:p>
          <a:p>
            <a:pPr marL="0" indent="0">
              <a:buNone/>
            </a:pPr>
            <a:endParaRPr kumimoji="1" lang="en-US" altLang="zh-CN" dirty="0"/>
          </a:p>
        </p:txBody>
      </p:sp>
      <p:pic>
        <p:nvPicPr>
          <p:cNvPr id="6" name="图片 5" descr="应用领域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43885" y="2493010"/>
            <a:ext cx="5440680" cy="4191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ym typeface="+mn-ea"/>
              </a:rPr>
              <a:t>8. 在Linux系统上部署模拟器</a:t>
            </a:r>
            <a:r>
              <a:rPr lang="en-US" altLang="zh-CN" dirty="0" smtClean="0">
                <a:sym typeface="+mn-ea"/>
              </a:rPr>
              <a:t>--Linux</a:t>
            </a:r>
            <a:r>
              <a:rPr lang="zh-CN" altLang="en-US" dirty="0" smtClean="0">
                <a:sym typeface="+mn-ea"/>
              </a:rPr>
              <a:t>发型版本</a:t>
            </a:r>
            <a:endParaRPr lang="zh-CN" altLang="en-US" dirty="0" smtClean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 dirty="0"/>
              <a:t>Linus开发的Linux只是一个内核</a:t>
            </a:r>
            <a:r>
              <a:rPr kumimoji="1" lang="zh-CN" altLang="en-US" dirty="0"/>
              <a:t>，内核并不是一套完整的操作系统，它只是操作系统的核心。一些组织或厂商将Linux内核与各种软件和文档包装起来，并提供系统安装界面和系统配置、设定与管理工具，就构成了Linux的发行版本。</a:t>
            </a:r>
            <a:endParaRPr kumimoji="1" lang="zh-CN" altLang="en-US" dirty="0"/>
          </a:p>
          <a:p>
            <a:pPr marL="0" indent="0">
              <a:buNone/>
            </a:pPr>
            <a:endParaRPr kumimoji="1"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3975" y="3126740"/>
            <a:ext cx="946785" cy="1033780"/>
          </a:xfrm>
          <a:prstGeom prst="rect">
            <a:avLst/>
          </a:prstGeom>
        </p:spPr>
      </p:pic>
      <p:pic>
        <p:nvPicPr>
          <p:cNvPr id="100" name="图片 99"/>
          <p:cNvPicPr/>
          <p:nvPr/>
        </p:nvPicPr>
        <p:blipFill>
          <a:blip r:embed="rId2"/>
          <a:stretch>
            <a:fillRect/>
          </a:stretch>
        </p:blipFill>
        <p:spPr>
          <a:xfrm>
            <a:off x="3215640" y="3141345"/>
            <a:ext cx="930910" cy="9810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0055" y="2997200"/>
            <a:ext cx="5743575" cy="356933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877570" y="4365625"/>
            <a:ext cx="159448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800"/>
              <a:t>Red Hat Linux</a:t>
            </a:r>
            <a:endParaRPr lang="zh-CN" altLang="en-US" sz="1800"/>
          </a:p>
        </p:txBody>
      </p:sp>
      <p:sp>
        <p:nvSpPr>
          <p:cNvPr id="10" name="文本框 9"/>
          <p:cNvSpPr txBox="1"/>
          <p:nvPr/>
        </p:nvSpPr>
        <p:spPr>
          <a:xfrm>
            <a:off x="3072765" y="4365625"/>
            <a:ext cx="152400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800"/>
              <a:t>Ubuntu Linux</a:t>
            </a:r>
            <a:endParaRPr lang="zh-CN" altLang="en-US" sz="1800"/>
          </a:p>
        </p:txBody>
      </p:sp>
      <p:pic>
        <p:nvPicPr>
          <p:cNvPr id="4" name="图片 3"/>
          <p:cNvPicPr/>
          <p:nvPr/>
        </p:nvPicPr>
        <p:blipFill>
          <a:blip r:embed="rId4"/>
        </p:blipFill>
        <p:spPr>
          <a:xfrm>
            <a:off x="-24765" y="5350510"/>
            <a:ext cx="3096895" cy="793115"/>
          </a:xfrm>
          <a:prstGeom prst="rect">
            <a:avLst/>
          </a:prstGeom>
        </p:spPr>
      </p:pic>
      <p:pic>
        <p:nvPicPr>
          <p:cNvPr id="5" name="图片 4"/>
          <p:cNvPicPr/>
          <p:nvPr/>
        </p:nvPicPr>
        <p:blipFill>
          <a:blip r:embed="rId5"/>
        </p:blipFill>
        <p:spPr>
          <a:xfrm>
            <a:off x="2927985" y="4820920"/>
            <a:ext cx="1882140" cy="177419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44955" y="104775"/>
            <a:ext cx="9861550" cy="685800"/>
          </a:xfrm>
        </p:spPr>
        <p:txBody>
          <a:bodyPr/>
          <a:lstStyle/>
          <a:p>
            <a:r>
              <a:rPr lang="zh-CN" altLang="en-US" sz="3600" dirty="0" smtClean="0">
                <a:sym typeface="+mn-ea"/>
              </a:rPr>
              <a:t>8. 在Linux系统上部署模拟器</a:t>
            </a:r>
            <a:r>
              <a:rPr lang="en-US" altLang="zh-CN" sz="3600" dirty="0" smtClean="0">
                <a:sym typeface="+mn-ea"/>
              </a:rPr>
              <a:t>--Linux</a:t>
            </a:r>
            <a:r>
              <a:rPr lang="zh-CN" altLang="en-US" sz="3600" dirty="0" smtClean="0">
                <a:sym typeface="+mn-ea"/>
              </a:rPr>
              <a:t>目录</a:t>
            </a:r>
            <a:r>
              <a:rPr lang="zh-CN" altLang="en-US" sz="3600" dirty="0" smtClean="0">
                <a:sym typeface="+mn-ea"/>
              </a:rPr>
              <a:t>结构</a:t>
            </a:r>
            <a:endParaRPr lang="zh-CN" altLang="en-US" sz="3600" dirty="0" smtClean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670" y="1125220"/>
            <a:ext cx="11480800" cy="5579745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  </a:t>
            </a:r>
            <a:endParaRPr dirty="0"/>
          </a:p>
          <a:p>
            <a:pPr marL="0" indent="0">
              <a:buNone/>
            </a:pPr>
            <a:endParaRPr lang="zh-CN" dirty="0"/>
          </a:p>
        </p:txBody>
      </p:sp>
      <p:pic>
        <p:nvPicPr>
          <p:cNvPr id="4" name="图片 3" descr="未命名文件(1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535" y="1556385"/>
            <a:ext cx="11250930" cy="444436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 smtClean="0">
                <a:sym typeface="+mn-ea"/>
              </a:rPr>
              <a:t>8. 在Linux系统上部署模拟器</a:t>
            </a:r>
            <a:r>
              <a:rPr lang="en-US" altLang="zh-CN" dirty="0" smtClean="0">
                <a:sym typeface="+mn-ea"/>
              </a:rPr>
              <a:t>--Linux</a:t>
            </a:r>
            <a:r>
              <a:rPr lang="zh-CN" altLang="en-US" dirty="0" smtClean="0">
                <a:sym typeface="+mn-ea"/>
              </a:rPr>
              <a:t>常用</a:t>
            </a:r>
            <a:r>
              <a:rPr lang="zh-CN" altLang="en-US" dirty="0" smtClean="0">
                <a:sym typeface="+mn-ea"/>
              </a:rPr>
              <a:t>命令</a:t>
            </a:r>
            <a:endParaRPr lang="zh-CN" altLang="en-US" dirty="0" smtClean="0"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7670" y="980440"/>
            <a:ext cx="3821430" cy="449135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2355" y="981075"/>
            <a:ext cx="3393440" cy="537972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6315" y="980440"/>
            <a:ext cx="3190240" cy="56134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13360" y="5516880"/>
            <a:ext cx="432625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1" indent="0"/>
            <a:r>
              <a:rPr lang="zh-CN" altLang="en-US" sz="1800" dirty="0">
                <a:sym typeface="+mn-ea"/>
              </a:rPr>
              <a:t>学习</a:t>
            </a:r>
            <a:r>
              <a:rPr lang="zh-CN" altLang="en-US" sz="1800" dirty="0">
                <a:sym typeface="+mn-ea"/>
              </a:rPr>
              <a:t>资源：</a:t>
            </a:r>
            <a:endParaRPr lang="zh-CN" altLang="en-US" sz="1800" dirty="0">
              <a:sym typeface="+mn-ea"/>
            </a:endParaRPr>
          </a:p>
          <a:p>
            <a:pPr marL="285750" lvl="1" indent="-285750">
              <a:buFont typeface="Wingdings" panose="05000000000000000000" charset="0"/>
              <a:buChar char="Ø"/>
            </a:pPr>
            <a:r>
              <a:rPr lang="zh-CN" altLang="en-US" sz="1800" dirty="0">
                <a:sym typeface="+mn-ea"/>
              </a:rPr>
              <a:t>https://www.runoob.com/linux/linux-tutorial.html</a:t>
            </a:r>
            <a:endParaRPr lang="zh-CN" altLang="en-US" sz="1800" dirty="0"/>
          </a:p>
          <a:p>
            <a:pPr marL="285750" lvl="0" indent="-285750">
              <a:buFont typeface="Wingdings" panose="05000000000000000000" charset="0"/>
              <a:buChar char="Ø"/>
            </a:pPr>
            <a:r>
              <a:rPr lang="zh-CN" altLang="en-US" sz="1800" dirty="0">
                <a:sym typeface="+mn-ea"/>
              </a:rPr>
              <a:t>http://c.biancheng.net/linux_tutorial/</a:t>
            </a:r>
            <a:endParaRPr lang="zh-CN" altLang="en-US" sz="1800" dirty="0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 smtClean="0">
                <a:sym typeface="+mn-ea"/>
              </a:rPr>
              <a:t>8. 在Linux系统上部署模拟器</a:t>
            </a:r>
            <a:r>
              <a:rPr lang="en-US" altLang="zh-CN" dirty="0" smtClean="0">
                <a:sym typeface="+mn-ea"/>
              </a:rPr>
              <a:t>--</a:t>
            </a:r>
            <a:r>
              <a:rPr lang="zh-CN" altLang="en-US" dirty="0" smtClean="0">
                <a:sym typeface="+mn-ea"/>
              </a:rPr>
              <a:t>申请</a:t>
            </a:r>
            <a:r>
              <a:rPr lang="zh-CN" altLang="en-US" dirty="0" smtClean="0">
                <a:sym typeface="+mn-ea"/>
              </a:rPr>
              <a:t>云服务器</a:t>
            </a:r>
            <a:endParaRPr lang="zh-CN" altLang="en-US" dirty="0" smtClean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6400" y="1156335"/>
            <a:ext cx="10862945" cy="5454015"/>
          </a:xfrm>
        </p:spPr>
        <p:txBody>
          <a:bodyPr/>
          <a:p>
            <a:pPr>
              <a:buFont typeface="Wingdings" panose="05000000000000000000" charset="0"/>
              <a:buChar char="Ø"/>
            </a:pPr>
            <a:r>
              <a:rPr lang="zh-CN" altLang="en-US"/>
              <a:t>到阿里云、华为云、移动云、京东云、天翼云等购买云服务器（</a:t>
            </a:r>
            <a:r>
              <a:rPr lang="en-US" altLang="zh-CN"/>
              <a:t>ECS</a:t>
            </a:r>
            <a:r>
              <a:rPr lang="zh-CN" altLang="en-US"/>
              <a:t>、</a:t>
            </a:r>
            <a:r>
              <a:rPr lang="en-US" altLang="zh-CN"/>
              <a:t>Flexus</a:t>
            </a:r>
            <a:r>
              <a:rPr lang="zh-CN" altLang="en-US"/>
              <a:t>云服务）</a:t>
            </a:r>
            <a:endParaRPr lang="zh-CN" altLang="en-US"/>
          </a:p>
          <a:p>
            <a:pPr>
              <a:buFont typeface="Wingdings" panose="05000000000000000000" charset="0"/>
              <a:buChar char="Ø"/>
            </a:pPr>
            <a:endParaRPr lang="zh-CN" altLang="en-US"/>
          </a:p>
          <a:p>
            <a:pPr>
              <a:buFont typeface="Wingdings" panose="05000000000000000000" charset="0"/>
              <a:buChar char="Ø"/>
            </a:pPr>
            <a:r>
              <a:rPr lang="zh-CN" altLang="en-US"/>
              <a:t>不要购买云电脑，此类产品只是作为办公</a:t>
            </a:r>
            <a:r>
              <a:rPr lang="en-US" altLang="zh-CN"/>
              <a:t>PC</a:t>
            </a:r>
            <a:r>
              <a:rPr lang="zh-CN" altLang="en-US"/>
              <a:t>之用</a:t>
            </a:r>
            <a:endParaRPr lang="zh-CN" altLang="en-US"/>
          </a:p>
          <a:p>
            <a:pPr>
              <a:buFont typeface="Wingdings" panose="05000000000000000000" charset="0"/>
              <a:buChar char="Ø"/>
            </a:pPr>
            <a:endParaRPr lang="zh-CN" altLang="en-US"/>
          </a:p>
          <a:p>
            <a:pPr>
              <a:buFont typeface="Wingdings" panose="05000000000000000000" charset="0"/>
              <a:buChar char="Ø"/>
            </a:pPr>
            <a:r>
              <a:rPr lang="zh-CN" altLang="en-US"/>
              <a:t>镜像：除了</a:t>
            </a:r>
            <a:r>
              <a:rPr lang="en-US" altLang="zh-CN"/>
              <a:t>Windows</a:t>
            </a:r>
            <a:r>
              <a:rPr lang="zh-CN" altLang="en-US"/>
              <a:t>都可以选，其它都是</a:t>
            </a:r>
            <a:r>
              <a:rPr lang="en-US" altLang="zh-CN"/>
              <a:t>Linux</a:t>
            </a:r>
            <a:r>
              <a:rPr lang="zh-CN" altLang="en-US"/>
              <a:t>阵营</a:t>
            </a:r>
            <a:endParaRPr lang="zh-CN" altLang="en-US"/>
          </a:p>
          <a:p>
            <a:pPr>
              <a:buFont typeface="Wingdings" panose="05000000000000000000" charset="0"/>
              <a:buChar char="Ø"/>
            </a:pPr>
            <a:endParaRPr lang="zh-CN" altLang="en-US"/>
          </a:p>
          <a:p>
            <a:pPr>
              <a:buFont typeface="Wingdings" panose="05000000000000000000" charset="0"/>
              <a:buChar char="Ø"/>
            </a:pPr>
            <a:r>
              <a:rPr lang="zh-CN" altLang="en-US"/>
              <a:t>使用</a:t>
            </a:r>
            <a:r>
              <a:rPr lang="en-US" altLang="zh-CN"/>
              <a:t>ssh</a:t>
            </a:r>
            <a:r>
              <a:rPr lang="zh-CN" altLang="en-US"/>
              <a:t>或者</a:t>
            </a:r>
            <a:r>
              <a:rPr lang="en-US" altLang="zh-CN"/>
              <a:t>xshell</a:t>
            </a:r>
            <a:r>
              <a:rPr lang="zh-CN" altLang="en-US"/>
              <a:t>客户端作为</a:t>
            </a:r>
            <a:r>
              <a:rPr lang="zh-CN" altLang="en-US"/>
              <a:t>终端访问</a:t>
            </a:r>
            <a:r>
              <a:rPr lang="zh-CN" altLang="en-US"/>
              <a:t>服务器</a:t>
            </a:r>
            <a:endParaRPr lang="zh-CN" altLang="en-US"/>
          </a:p>
          <a:p>
            <a:pPr>
              <a:buFont typeface="Wingdings" panose="05000000000000000000" charset="0"/>
              <a:buChar char="Ø"/>
            </a:pP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6405" y="2672080"/>
            <a:ext cx="2319655" cy="39382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 smtClean="0">
                <a:sym typeface="+mn-ea"/>
              </a:rPr>
              <a:t>8. 在Linux系统上部署模拟器</a:t>
            </a:r>
            <a:r>
              <a:rPr lang="en-US" altLang="zh-CN" dirty="0" smtClean="0">
                <a:sym typeface="+mn-ea"/>
              </a:rPr>
              <a:t>--</a:t>
            </a:r>
            <a:r>
              <a:rPr lang="zh-CN" altLang="en-US" dirty="0" smtClean="0">
                <a:sym typeface="+mn-ea"/>
              </a:rPr>
              <a:t>课堂</a:t>
            </a:r>
            <a:r>
              <a:rPr lang="zh-CN" altLang="en-US" dirty="0" smtClean="0">
                <a:sym typeface="+mn-ea"/>
              </a:rPr>
              <a:t>练习</a:t>
            </a:r>
            <a:endParaRPr lang="zh-CN" altLang="en-US" dirty="0" smtClean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6400" y="1156335"/>
            <a:ext cx="11480800" cy="5454015"/>
          </a:xfrm>
        </p:spPr>
        <p:txBody>
          <a:bodyPr/>
          <a:p>
            <a:pPr marL="0" indent="0">
              <a:buFont typeface="Wingdings" panose="05000000000000000000" charset="0"/>
              <a:buNone/>
            </a:pPr>
            <a:r>
              <a:rPr lang="zh-CN" altLang="en-US"/>
              <a:t>内容：将模拟器代码部署到</a:t>
            </a:r>
            <a:r>
              <a:rPr lang="zh-CN" altLang="en-US"/>
              <a:t>云服务器</a:t>
            </a:r>
            <a:endParaRPr lang="zh-CN" altLang="en-US"/>
          </a:p>
          <a:p>
            <a:pPr marL="0" indent="0">
              <a:buFont typeface="Wingdings" panose="05000000000000000000" charset="0"/>
              <a:buNone/>
            </a:pPr>
            <a:endParaRPr lang="zh-CN" altLang="en-US"/>
          </a:p>
          <a:p>
            <a:pPr latinLnBrk="0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</a:pPr>
            <a:r>
              <a:rPr lang="zh-CN" altLang="en-US"/>
              <a:t>使用一种</a:t>
            </a:r>
            <a:r>
              <a:rPr lang="en-US" altLang="zh-CN"/>
              <a:t>terminal</a:t>
            </a:r>
            <a:r>
              <a:rPr lang="zh-CN" altLang="en-US"/>
              <a:t>登录</a:t>
            </a:r>
            <a:r>
              <a:rPr lang="zh-CN" altLang="en-US"/>
              <a:t>云服务器</a:t>
            </a:r>
            <a:endParaRPr lang="zh-CN" altLang="en-US"/>
          </a:p>
          <a:p>
            <a:pPr latinLnBrk="0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</a:pPr>
            <a:r>
              <a:rPr lang="zh-CN" altLang="en-US"/>
              <a:t>安装</a:t>
            </a:r>
            <a:r>
              <a:rPr lang="en-US" altLang="zh-CN"/>
              <a:t>git</a:t>
            </a:r>
            <a:endParaRPr lang="en-US" altLang="zh-CN"/>
          </a:p>
          <a:p>
            <a:pPr latinLnBrk="0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</a:pPr>
            <a:r>
              <a:rPr lang="zh-CN" altLang="en-US"/>
              <a:t>使用</a:t>
            </a:r>
            <a:r>
              <a:rPr lang="en-US" altLang="zh-CN"/>
              <a:t>git clone</a:t>
            </a:r>
            <a:r>
              <a:rPr lang="zh-CN" altLang="en-US"/>
              <a:t>克隆</a:t>
            </a:r>
            <a:r>
              <a:rPr lang="zh-CN" altLang="en-US"/>
              <a:t>代码库</a:t>
            </a:r>
            <a:endParaRPr lang="zh-CN" altLang="en-US"/>
          </a:p>
          <a:p>
            <a:pPr latinLnBrk="0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</a:pPr>
            <a:r>
              <a:rPr lang="zh-CN" altLang="en-US"/>
              <a:t>安装</a:t>
            </a:r>
            <a:r>
              <a:rPr lang="en-US" altLang="zh-CN"/>
              <a:t>python</a:t>
            </a:r>
            <a:r>
              <a:rPr lang="zh-CN" altLang="en-US"/>
              <a:t>运行库</a:t>
            </a:r>
            <a:endParaRPr lang="zh-CN" altLang="en-US"/>
          </a:p>
          <a:p>
            <a:pPr latinLnBrk="0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</a:pPr>
            <a:r>
              <a:rPr lang="zh-CN" altLang="en-US"/>
              <a:t>启动</a:t>
            </a:r>
            <a:r>
              <a:rPr lang="zh-CN" altLang="en-US"/>
              <a:t>模拟器</a:t>
            </a:r>
            <a:endParaRPr lang="zh-CN" altLang="en-US"/>
          </a:p>
          <a:p>
            <a:pPr latinLnBrk="0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</a:pPr>
            <a:r>
              <a:rPr lang="zh-CN" altLang="en-US"/>
              <a:t>将模拟器设置为服务，开机</a:t>
            </a:r>
            <a:r>
              <a:rPr lang="zh-CN" altLang="en-US"/>
              <a:t>自动启动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+mj-ea"/>
                <a:sym typeface="+mn-ea"/>
              </a:rPr>
              <a:t>桌面应用：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+mj-ea"/>
                <a:sym typeface="+mn-ea"/>
              </a:rPr>
              <a:t>C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+mj-ea"/>
                <a:sym typeface="+mn-ea"/>
              </a:rPr>
              <a:t>端产品数据模拟器</a:t>
            </a:r>
            <a:endParaRPr kumimoji="1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ea"/>
              <a:ea typeface="+mj-ea"/>
              <a:cs typeface="+mj-cs"/>
            </a:endParaRPr>
          </a:p>
        </p:txBody>
      </p:sp>
      <p:sp>
        <p:nvSpPr>
          <p:cNvPr id="3074" name="内容占位符 2"/>
          <p:cNvSpPr>
            <a:spLocks noGrp="1"/>
          </p:cNvSpPr>
          <p:nvPr>
            <p:ph idx="1"/>
          </p:nvPr>
        </p:nvSpPr>
        <p:spPr>
          <a:xfrm>
            <a:off x="3935730" y="765175"/>
            <a:ext cx="6280785" cy="5582285"/>
          </a:xfrm>
        </p:spPr>
        <p:txBody>
          <a:bodyPr vert="horz" wrap="square" lIns="91440" tIns="45720" rIns="91440" bIns="45720" anchor="t" anchorCtr="0"/>
          <a:lstStyle/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kumimoji="1" lang="zh-CN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任务</a:t>
            </a:r>
            <a:r>
              <a:rPr kumimoji="1" lang="zh-CN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要求</a:t>
            </a:r>
            <a:endParaRPr kumimoji="1" lang="zh-CN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kumimoji="1" lang="zh-CN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随机数</a:t>
            </a:r>
            <a:endParaRPr kumimoji="1" lang="en-US" altLang="zh-CN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让</a:t>
            </a: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随机数符合统计规律</a:t>
            </a:r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kumimoji="1"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将结果和日志写入文件</a:t>
            </a:r>
            <a:endParaRPr kumimoji="1" lang="en-US" altLang="zh-CN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多线程</a:t>
            </a:r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GUI界面</a:t>
            </a:r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用</a:t>
            </a:r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Git</a:t>
            </a: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管理代码</a:t>
            </a:r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</a:t>
            </a:r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Linux</a:t>
            </a: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系统上部署</a:t>
            </a: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模拟器</a:t>
            </a:r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Docker</a:t>
            </a: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容器</a:t>
            </a: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技术</a:t>
            </a:r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5" name="直接箭头连接符 4"/>
          <p:cNvCxnSpPr/>
          <p:nvPr/>
        </p:nvCxnSpPr>
        <p:spPr>
          <a:xfrm>
            <a:off x="3359150" y="6347143"/>
            <a:ext cx="576263" cy="0"/>
          </a:xfrm>
          <a:prstGeom prst="straightConnector1">
            <a:avLst/>
          </a:prstGeom>
          <a:ln w="76200" cap="flat" cmpd="sng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0.00000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 smtClean="0">
                <a:sym typeface="+mn-ea"/>
              </a:rPr>
              <a:t>9. Docker容器--</a:t>
            </a:r>
            <a:r>
              <a:rPr lang="zh-CN" dirty="0" smtClean="0">
                <a:sym typeface="+mn-ea"/>
              </a:rPr>
              <a:t>虚拟化和容器</a:t>
            </a:r>
            <a:endParaRPr lang="zh-CN" dirty="0" smtClean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6400" y="1156335"/>
            <a:ext cx="11480800" cy="1345565"/>
          </a:xfrm>
        </p:spPr>
        <p:txBody>
          <a:bodyPr/>
          <a:p>
            <a:pPr>
              <a:buFont typeface="Wingdings" panose="05000000000000000000" charset="0"/>
              <a:buChar char="Ø"/>
            </a:pPr>
            <a:r>
              <a:rPr lang="zh-CN" altLang="en-US" sz="2400"/>
              <a:t>硬件虚拟化：</a:t>
            </a:r>
            <a:r>
              <a:rPr lang="zh-CN" altLang="en-US" sz="2400" b="0"/>
              <a:t>使用软件仿真出一台或者多台计算机的各种硬件，用户可以在这一台虚拟机上安装、运行</a:t>
            </a:r>
            <a:r>
              <a:rPr lang="en-US" altLang="zh-CN" sz="2400" b="0"/>
              <a:t>OS</a:t>
            </a:r>
            <a:r>
              <a:rPr lang="zh-CN" altLang="en-US" sz="2400" b="0"/>
              <a:t>。对于运行在</a:t>
            </a:r>
            <a:r>
              <a:rPr lang="en-US" altLang="zh-CN" sz="2400" b="0"/>
              <a:t>OS</a:t>
            </a:r>
            <a:r>
              <a:rPr lang="zh-CN" altLang="en-US" sz="2400" b="0"/>
              <a:t>之上的应用程序无法区分硬件是物理的还是虚拟的。</a:t>
            </a:r>
            <a:endParaRPr lang="zh-CN" altLang="en-US" sz="2400" b="0"/>
          </a:p>
          <a:p>
            <a:pPr marL="0" indent="0">
              <a:buFont typeface="Wingdings" panose="05000000000000000000" charset="0"/>
              <a:buNone/>
            </a:pPr>
            <a:endParaRPr lang="zh-CN" altLang="en-US" sz="2400" b="0"/>
          </a:p>
          <a:p>
            <a:pPr marL="0" indent="0">
              <a:buFont typeface="Wingdings" panose="05000000000000000000" charset="0"/>
              <a:buNone/>
            </a:pPr>
            <a:endParaRPr lang="zh-CN" altLang="en-US" sz="2400" b="0"/>
          </a:p>
        </p:txBody>
      </p:sp>
      <p:pic>
        <p:nvPicPr>
          <p:cNvPr id="4" name="图片 3" descr="v2-a40463b6718febf779ac28edb8bd7c1e_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88030" y="2277110"/>
            <a:ext cx="5038090" cy="44081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 smtClean="0">
                <a:sym typeface="+mn-ea"/>
              </a:rPr>
              <a:t>9. Docker容器--</a:t>
            </a:r>
            <a:r>
              <a:rPr lang="zh-CN" dirty="0" smtClean="0">
                <a:sym typeface="+mn-ea"/>
              </a:rPr>
              <a:t>虚拟化和容器</a:t>
            </a:r>
            <a:endParaRPr lang="en-US" altLang="zh-CN" dirty="0" smtClean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6400" y="1156335"/>
            <a:ext cx="11480800" cy="1345565"/>
          </a:xfrm>
        </p:spPr>
        <p:txBody>
          <a:bodyPr/>
          <a:p>
            <a:pPr>
              <a:buFont typeface="Wingdings" panose="05000000000000000000" charset="0"/>
              <a:buChar char="Ø"/>
            </a:pPr>
            <a:r>
              <a:rPr lang="zh-CN" altLang="en-US" sz="2400"/>
              <a:t>容器：</a:t>
            </a:r>
            <a:r>
              <a:rPr lang="zh-CN" altLang="en-US" sz="2400" b="0"/>
              <a:t>容器是应用程序级别的虚拟化技术，它提供了将应用程序的代码、运行时环境、系统工具、系统库和配置打包到一个实例中的标准方法，容器共享一个内核（操作系统）。</a:t>
            </a:r>
            <a:endParaRPr lang="zh-CN" altLang="en-US" sz="2400" b="0"/>
          </a:p>
          <a:p>
            <a:pPr marL="0" indent="0">
              <a:buFont typeface="Wingdings" panose="05000000000000000000" charset="0"/>
              <a:buNone/>
            </a:pPr>
            <a:endParaRPr lang="zh-CN" altLang="en-US" sz="2400" b="0"/>
          </a:p>
          <a:p>
            <a:pPr marL="0" indent="0">
              <a:buFont typeface="Wingdings" panose="05000000000000000000" charset="0"/>
              <a:buNone/>
            </a:pPr>
            <a:endParaRPr lang="zh-CN" altLang="en-US" sz="2400" b="0"/>
          </a:p>
        </p:txBody>
      </p:sp>
      <p:pic>
        <p:nvPicPr>
          <p:cNvPr id="2" name="图片 1" descr="v2-05a0b8281e8e0f50b373f0e2e5e8d0fe_1440w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91535" y="2132965"/>
            <a:ext cx="5510530" cy="44024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 smtClean="0">
                <a:sym typeface="+mn-ea"/>
              </a:rPr>
              <a:t>9. Docker容器--</a:t>
            </a:r>
            <a:r>
              <a:rPr lang="zh-CN" altLang="en-US" dirty="0" smtClean="0">
                <a:sym typeface="+mn-ea"/>
              </a:rPr>
              <a:t>什么是</a:t>
            </a:r>
            <a:r>
              <a:rPr lang="en-US" altLang="zh-CN" dirty="0" smtClean="0">
                <a:sym typeface="+mn-ea"/>
              </a:rPr>
              <a:t>docker</a:t>
            </a:r>
            <a:endParaRPr lang="en-US" altLang="zh-CN" dirty="0" smtClean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6400" y="1156335"/>
            <a:ext cx="11480800" cy="5454015"/>
          </a:xfrm>
        </p:spPr>
        <p:txBody>
          <a:bodyPr/>
          <a:p>
            <a:pPr latinLnBrk="0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</a:pPr>
            <a:r>
              <a:rPr lang="en-US" altLang="zh-CN" sz="2400"/>
              <a:t>docker</a:t>
            </a:r>
            <a:r>
              <a:rPr lang="zh-CN" altLang="en-US" sz="2400"/>
              <a:t>：</a:t>
            </a:r>
            <a:r>
              <a:rPr lang="en-US" altLang="zh-CN" sz="2400" b="0"/>
              <a:t>Linux</a:t>
            </a:r>
            <a:r>
              <a:rPr lang="zh-CN" altLang="en-US" sz="2400" b="0"/>
              <a:t>操作系统上的容器。使用它可以方便地在</a:t>
            </a:r>
            <a:r>
              <a:rPr lang="en-US" altLang="zh-CN" sz="2400" b="0"/>
              <a:t>Linux</a:t>
            </a:r>
            <a:r>
              <a:rPr lang="zh-CN" altLang="en-US" sz="2400" b="0"/>
              <a:t>、</a:t>
            </a:r>
            <a:r>
              <a:rPr lang="en-US" altLang="zh-CN" sz="2400" b="0"/>
              <a:t>Windows</a:t>
            </a:r>
            <a:r>
              <a:rPr lang="zh-CN" altLang="en-US" sz="2400" b="0"/>
              <a:t>和</a:t>
            </a:r>
            <a:r>
              <a:rPr lang="en-US" altLang="zh-CN" sz="2400" b="0"/>
              <a:t>Mac</a:t>
            </a:r>
            <a:r>
              <a:rPr lang="zh-CN" altLang="en-US" sz="2400" b="0"/>
              <a:t>系统上虚拟出若干</a:t>
            </a:r>
            <a:r>
              <a:rPr lang="en-US" altLang="zh-CN" sz="2400" b="0"/>
              <a:t>Linux</a:t>
            </a:r>
            <a:r>
              <a:rPr lang="zh-CN" altLang="en-US" sz="2400" b="0"/>
              <a:t>应用程序系统环境，利于应用系统</a:t>
            </a:r>
            <a:r>
              <a:rPr lang="zh-CN" altLang="en-US" sz="2400" b="0">
                <a:solidFill>
                  <a:srgbClr val="FF0000"/>
                </a:solidFill>
              </a:rPr>
              <a:t>迁移</a:t>
            </a:r>
            <a:r>
              <a:rPr lang="zh-CN" altLang="en-US" sz="2400" b="0"/>
              <a:t>和相互</a:t>
            </a:r>
            <a:r>
              <a:rPr lang="zh-CN" altLang="en-US" sz="2400" b="0">
                <a:solidFill>
                  <a:srgbClr val="FF0000"/>
                </a:solidFill>
              </a:rPr>
              <a:t>隔离</a:t>
            </a:r>
            <a:r>
              <a:rPr lang="zh-CN" altLang="en-US" sz="2400" b="0"/>
              <a:t>。</a:t>
            </a:r>
            <a:endParaRPr lang="zh-CN" altLang="en-US" sz="2400" b="0"/>
          </a:p>
        </p:txBody>
      </p:sp>
      <p:pic>
        <p:nvPicPr>
          <p:cNvPr id="2" name="图片 1"/>
          <p:cNvPicPr/>
          <p:nvPr/>
        </p:nvPicPr>
        <p:blipFill>
          <a:blip r:embed="rId1"/>
          <a:stretch>
            <a:fillRect/>
          </a:stretch>
        </p:blipFill>
        <p:spPr>
          <a:xfrm>
            <a:off x="2423795" y="3068955"/>
            <a:ext cx="6496685" cy="25844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 smtClean="0">
                <a:sym typeface="+mn-ea"/>
              </a:rPr>
              <a:t>9. Docker容器--</a:t>
            </a:r>
            <a:r>
              <a:rPr lang="zh-CN" altLang="en-US" dirty="0" smtClean="0">
                <a:sym typeface="+mn-ea"/>
              </a:rPr>
              <a:t>在</a:t>
            </a:r>
            <a:r>
              <a:rPr lang="en-US" altLang="zh-CN" dirty="0" smtClean="0">
                <a:sym typeface="+mn-ea"/>
              </a:rPr>
              <a:t>Linux</a:t>
            </a:r>
            <a:r>
              <a:rPr lang="zh-CN" altLang="en-US" dirty="0" smtClean="0">
                <a:sym typeface="+mn-ea"/>
              </a:rPr>
              <a:t>中安装</a:t>
            </a:r>
            <a:r>
              <a:rPr lang="en-US" altLang="zh-CN" dirty="0" smtClean="0">
                <a:sym typeface="+mn-ea"/>
              </a:rPr>
              <a:t>docker</a:t>
            </a:r>
            <a:endParaRPr lang="en-US" altLang="zh-CN" dirty="0" smtClean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6400" y="1156335"/>
            <a:ext cx="11480800" cy="452120"/>
          </a:xfrm>
        </p:spPr>
        <p:txBody>
          <a:bodyPr/>
          <a:p>
            <a:pPr marL="0" indent="0">
              <a:buFont typeface="Wingdings" panose="05000000000000000000" charset="0"/>
              <a:buNone/>
            </a:pPr>
            <a:r>
              <a:rPr lang="zh-CN"/>
              <a:t>以</a:t>
            </a:r>
            <a:r>
              <a:rPr lang="en-US" altLang="zh-CN"/>
              <a:t>CentOS 8</a:t>
            </a:r>
            <a:r>
              <a:rPr lang="zh-CN" altLang="en-US"/>
              <a:t>为例：</a:t>
            </a:r>
            <a:endParaRPr lang="en-US" altLang="zh-CN"/>
          </a:p>
          <a:p>
            <a:pPr marL="0" indent="0">
              <a:buFont typeface="Wingdings" panose="05000000000000000000" charset="0"/>
              <a:buNone/>
            </a:pPr>
            <a:endParaRPr lang="en-US" altLang="zh-CN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2405" y="1701165"/>
            <a:ext cx="9267825" cy="452437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79425" y="631825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https://developer.aliyun.com/article/110806</a:t>
            </a:r>
            <a:endParaRPr lang="en-US" altLang="zh-CN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 smtClean="0">
                <a:sym typeface="+mn-ea"/>
              </a:rPr>
              <a:t>9. Docker容器--</a:t>
            </a:r>
            <a:r>
              <a:rPr lang="zh-CN" altLang="en-US" dirty="0" smtClean="0">
                <a:sym typeface="+mn-ea"/>
              </a:rPr>
              <a:t>下载并启动</a:t>
            </a:r>
            <a:r>
              <a:rPr lang="en-US" altLang="zh-CN" dirty="0" smtClean="0">
                <a:sym typeface="+mn-ea"/>
              </a:rPr>
              <a:t>Python</a:t>
            </a:r>
            <a:r>
              <a:rPr lang="zh-CN" altLang="en-US" dirty="0" smtClean="0">
                <a:sym typeface="+mn-ea"/>
              </a:rPr>
              <a:t>镜像</a:t>
            </a:r>
            <a:endParaRPr lang="zh-CN" altLang="en-US" dirty="0" smtClean="0"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12085" y="814705"/>
            <a:ext cx="5944870" cy="60369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 smtClean="0">
                <a:sym typeface="+mn-ea"/>
              </a:rPr>
              <a:t>9. Docker容器--</a:t>
            </a:r>
            <a:r>
              <a:rPr lang="zh-CN" altLang="en-US" dirty="0" smtClean="0">
                <a:sym typeface="+mn-ea"/>
              </a:rPr>
              <a:t>在</a:t>
            </a:r>
            <a:r>
              <a:rPr lang="en-US" altLang="zh-CN" dirty="0" smtClean="0">
                <a:sym typeface="+mn-ea"/>
              </a:rPr>
              <a:t>docker</a:t>
            </a:r>
            <a:r>
              <a:rPr lang="zh-CN" altLang="en-US" dirty="0" smtClean="0">
                <a:sym typeface="+mn-ea"/>
              </a:rPr>
              <a:t>中</a:t>
            </a:r>
            <a:r>
              <a:rPr lang="en-US" altLang="zh-CN" dirty="0" smtClean="0">
                <a:sym typeface="+mn-ea"/>
              </a:rPr>
              <a:t>clone</a:t>
            </a:r>
            <a:r>
              <a:rPr lang="zh-CN" altLang="en-US" dirty="0" smtClean="0">
                <a:sym typeface="+mn-ea"/>
              </a:rPr>
              <a:t>并</a:t>
            </a:r>
            <a:r>
              <a:rPr lang="zh-CN" altLang="en-US" dirty="0" smtClean="0">
                <a:sym typeface="+mn-ea"/>
              </a:rPr>
              <a:t>运行代码</a:t>
            </a:r>
            <a:endParaRPr lang="zh-CN" altLang="en-US" dirty="0" smtClean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6400" y="1125855"/>
            <a:ext cx="11480800" cy="5484495"/>
          </a:xfrm>
        </p:spPr>
        <p:txBody>
          <a:bodyPr/>
          <a:p>
            <a:pPr marL="0" indent="0">
              <a:buFont typeface="Wingdings" panose="05000000000000000000" charset="0"/>
              <a:buNone/>
            </a:pPr>
            <a:r>
              <a:rPr lang="en-US" altLang="zh-CN"/>
              <a:t>python</a:t>
            </a:r>
            <a:r>
              <a:rPr lang="zh-CN" altLang="en-US"/>
              <a:t>镜像中已经安装了</a:t>
            </a:r>
            <a:r>
              <a:rPr lang="en-US" altLang="zh-CN"/>
              <a:t>git</a:t>
            </a:r>
            <a:endParaRPr lang="en-US" altLang="zh-CN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3705" y="1844675"/>
            <a:ext cx="9243695" cy="40443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 smtClean="0">
                <a:sym typeface="+mn-ea"/>
              </a:rPr>
              <a:t>9. Docker容器--</a:t>
            </a:r>
            <a:r>
              <a:rPr lang="zh-CN" altLang="en-US" dirty="0" smtClean="0">
                <a:sym typeface="+mn-ea"/>
              </a:rPr>
              <a:t>将</a:t>
            </a:r>
            <a:r>
              <a:rPr lang="en-US" altLang="zh-CN" dirty="0" smtClean="0">
                <a:sym typeface="+mn-ea"/>
              </a:rPr>
              <a:t>docker</a:t>
            </a:r>
            <a:r>
              <a:rPr lang="zh-CN" altLang="en-US" dirty="0" smtClean="0">
                <a:sym typeface="+mn-ea"/>
              </a:rPr>
              <a:t>环境保存为</a:t>
            </a:r>
            <a:r>
              <a:rPr lang="zh-CN" altLang="en-US" dirty="0" smtClean="0">
                <a:sym typeface="+mn-ea"/>
              </a:rPr>
              <a:t>镜像</a:t>
            </a:r>
            <a:endParaRPr lang="zh-CN" altLang="en-US" dirty="0" smtClean="0"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9605" y="1557020"/>
            <a:ext cx="8288655" cy="38550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 smtClean="0">
                <a:sym typeface="+mn-ea"/>
              </a:rPr>
              <a:t>9. Docker容器--</a:t>
            </a:r>
            <a:r>
              <a:rPr lang="zh-CN" dirty="0" smtClean="0">
                <a:sym typeface="+mn-ea"/>
              </a:rPr>
              <a:t>使用</a:t>
            </a:r>
            <a:r>
              <a:rPr lang="en-US" altLang="zh-CN" dirty="0" smtClean="0">
                <a:sym typeface="+mn-ea"/>
              </a:rPr>
              <a:t>Dockerfile</a:t>
            </a:r>
            <a:r>
              <a:rPr lang="zh-CN" altLang="en-US" dirty="0" smtClean="0">
                <a:sym typeface="+mn-ea"/>
              </a:rPr>
              <a:t>方式创建镜像</a:t>
            </a:r>
            <a:endParaRPr lang="zh-CN" altLang="en-US" dirty="0" smtClean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6400" y="1156335"/>
            <a:ext cx="11480800" cy="5454015"/>
          </a:xfrm>
        </p:spPr>
        <p:txBody>
          <a:bodyPr/>
          <a:p>
            <a:pPr marL="0" indent="0">
              <a:buFont typeface="Wingdings" panose="05000000000000000000" charset="0"/>
              <a:buNone/>
            </a:pPr>
            <a:r>
              <a:rPr lang="en-US" altLang="zh-CN" sz="2400"/>
              <a:t>Dockerfile</a:t>
            </a:r>
            <a:r>
              <a:rPr lang="zh-CN" altLang="en-US" sz="2400"/>
              <a:t>是一个批处理文件，用一系列指令描述了如何自动构建一个镜像。使用</a:t>
            </a:r>
            <a:r>
              <a:rPr lang="en-US" altLang="zh-CN" sz="2400"/>
              <a:t>docker build</a:t>
            </a:r>
            <a:r>
              <a:rPr lang="zh-CN" altLang="en-US" sz="2400"/>
              <a:t>命令来执行这个批处理文件。</a:t>
            </a:r>
            <a:endParaRPr lang="zh-CN" altLang="en-US" sz="2400"/>
          </a:p>
          <a:p>
            <a:pPr marL="0" indent="0">
              <a:buFont typeface="Wingdings" panose="05000000000000000000" charset="0"/>
              <a:buNone/>
            </a:pPr>
            <a:endParaRPr lang="zh-CN" altLang="en-US" sz="2400"/>
          </a:p>
          <a:p>
            <a:pPr marL="0" indent="0">
              <a:buFont typeface="Wingdings" panose="05000000000000000000" charset="0"/>
              <a:buNone/>
            </a:pPr>
            <a:endParaRPr lang="zh-CN" altLang="en-US" sz="2400"/>
          </a:p>
          <a:p>
            <a:pPr marL="0" indent="0">
              <a:buFont typeface="Wingdings" panose="05000000000000000000" charset="0"/>
              <a:buNone/>
            </a:pPr>
            <a:endParaRPr lang="zh-CN" altLang="en-US" sz="2400"/>
          </a:p>
          <a:p>
            <a:pPr marL="0" indent="0">
              <a:buFont typeface="Wingdings" panose="05000000000000000000" charset="0"/>
              <a:buNone/>
            </a:pPr>
            <a:endParaRPr lang="zh-CN" altLang="en-US" sz="2400"/>
          </a:p>
          <a:p>
            <a:pPr marL="0" indent="0">
              <a:buFont typeface="Wingdings" panose="05000000000000000000" charset="0"/>
              <a:buNone/>
            </a:pPr>
            <a:endParaRPr lang="zh-CN" altLang="en-US" sz="2400"/>
          </a:p>
          <a:p>
            <a:pPr marL="0" indent="0">
              <a:buFont typeface="Wingdings" panose="05000000000000000000" charset="0"/>
              <a:buNone/>
            </a:pPr>
            <a:endParaRPr lang="zh-CN" altLang="en-US" sz="2400"/>
          </a:p>
          <a:p>
            <a:pPr marL="0" indent="0">
              <a:buFont typeface="Wingdings" panose="05000000000000000000" charset="0"/>
              <a:buNone/>
            </a:pPr>
            <a:endParaRPr lang="zh-CN" altLang="en-US" sz="2400"/>
          </a:p>
          <a:p>
            <a:pPr marL="0" indent="0">
              <a:buFont typeface="Wingdings" panose="05000000000000000000" charset="0"/>
              <a:buNone/>
            </a:pPr>
            <a:endParaRPr lang="en-US" altLang="zh-CN" sz="2400"/>
          </a:p>
          <a:p>
            <a:pPr marL="0" indent="0">
              <a:buFont typeface="Wingdings" panose="05000000000000000000" charset="0"/>
              <a:buNone/>
            </a:pPr>
            <a:endParaRPr lang="en-US" altLang="zh-CN" sz="2400"/>
          </a:p>
          <a:p>
            <a:pPr marL="0" indent="0">
              <a:buFont typeface="Wingdings" panose="05000000000000000000" charset="0"/>
              <a:buNone/>
            </a:pPr>
            <a:endParaRPr lang="en-US" altLang="zh-CN" sz="2400"/>
          </a:p>
          <a:p>
            <a:pPr marL="0" indent="0">
              <a:buFont typeface="Wingdings" panose="05000000000000000000" charset="0"/>
              <a:buNone/>
            </a:pPr>
            <a:r>
              <a:rPr lang="en-US" altLang="zh-CN" sz="2400"/>
              <a:t>https://blog.csdn.net/2301_76154806/article/details/141472961</a:t>
            </a:r>
            <a:endParaRPr lang="en-US" altLang="zh-CN" sz="24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3570" y="2132965"/>
            <a:ext cx="10896600" cy="380047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7815" y="2060575"/>
            <a:ext cx="4991100" cy="1333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 smtClean="0">
                <a:sym typeface="+mn-ea"/>
              </a:rPr>
              <a:t>9. Docker容器--</a:t>
            </a:r>
            <a:r>
              <a:rPr lang="zh-CN" altLang="en-US" dirty="0" smtClean="0">
                <a:sym typeface="+mn-ea"/>
              </a:rPr>
              <a:t>使用脚本批量启动</a:t>
            </a:r>
            <a:r>
              <a:rPr lang="en-US" altLang="zh-CN" dirty="0" smtClean="0">
                <a:sym typeface="+mn-ea"/>
              </a:rPr>
              <a:t>docker</a:t>
            </a:r>
            <a:endParaRPr lang="en-US" altLang="zh-CN" dirty="0" smtClean="0"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5280" y="1214120"/>
            <a:ext cx="7715250" cy="44291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0055" y="2204720"/>
            <a:ext cx="6238875" cy="42100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 smtClean="0">
                <a:sym typeface="+mn-ea"/>
              </a:rPr>
              <a:t>9. Docker容器--</a:t>
            </a:r>
            <a:r>
              <a:rPr lang="zh-CN" dirty="0" smtClean="0">
                <a:sym typeface="+mn-ea"/>
              </a:rPr>
              <a:t>使用</a:t>
            </a:r>
            <a:r>
              <a:rPr lang="en-US" altLang="zh-CN"/>
              <a:t>kubernetes</a:t>
            </a:r>
            <a:r>
              <a:rPr lang="zh-CN" altLang="en-US"/>
              <a:t>管理</a:t>
            </a:r>
            <a:r>
              <a:rPr lang="en-US" altLang="zh-CN"/>
              <a:t>docker</a:t>
            </a:r>
            <a:r>
              <a:rPr lang="zh-CN" altLang="en-US"/>
              <a:t>容器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6400" y="1156335"/>
            <a:ext cx="11663045" cy="2052955"/>
          </a:xfrm>
        </p:spPr>
        <p:txBody>
          <a:bodyPr/>
          <a:p>
            <a:pPr>
              <a:buFont typeface="Wingdings" panose="05000000000000000000" charset="0"/>
              <a:buChar char="Ø"/>
            </a:pPr>
            <a:r>
              <a:rPr lang="en-US" altLang="zh-CN" sz="2400"/>
              <a:t>Kubernetes</a:t>
            </a:r>
            <a:r>
              <a:rPr lang="zh-CN" altLang="en-US" sz="2400"/>
              <a:t>（</a:t>
            </a:r>
            <a:r>
              <a:rPr lang="en-US" altLang="zh-CN" sz="2400"/>
              <a:t>k8s</a:t>
            </a:r>
            <a:r>
              <a:rPr lang="zh-CN" altLang="en-US" sz="2400"/>
              <a:t>）是一个开源的，用于管理云平台中多个主机上的容器化的应用。</a:t>
            </a:r>
            <a:endParaRPr lang="zh-CN" altLang="en-US" sz="2400"/>
          </a:p>
          <a:p>
            <a:pPr>
              <a:buFont typeface="Wingdings" panose="05000000000000000000" charset="0"/>
              <a:buChar char="Ø"/>
            </a:pPr>
            <a:r>
              <a:rPr lang="zh-CN" altLang="en-US" sz="2400"/>
              <a:t>在</a:t>
            </a:r>
            <a:r>
              <a:rPr lang="en-US" altLang="zh-CN" sz="2400">
                <a:sym typeface="+mn-ea"/>
              </a:rPr>
              <a:t>k8s</a:t>
            </a:r>
            <a:r>
              <a:rPr lang="zh-CN" altLang="en-US" sz="2400"/>
              <a:t>中，我们可以创建多个容器，每个容器里面运行一个应用实例，然后通过内置的负载均衡策略，实现对这一组应用实例的管理、发现、访问。</a:t>
            </a:r>
            <a:endParaRPr lang="zh-CN" altLang="en-US" sz="2400"/>
          </a:p>
        </p:txBody>
      </p:sp>
      <p:pic>
        <p:nvPicPr>
          <p:cNvPr id="2" name="图片 1"/>
          <p:cNvPicPr/>
          <p:nvPr/>
        </p:nvPicPr>
        <p:blipFill>
          <a:blip r:embed="rId1"/>
          <a:stretch>
            <a:fillRect/>
          </a:stretch>
        </p:blipFill>
        <p:spPr>
          <a:xfrm>
            <a:off x="3071495" y="2924810"/>
            <a:ext cx="5600700" cy="36385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7282" name="Rectangle 2"/>
          <p:cNvSpPr>
            <a:spLocks noGrp="1" noChangeArrowheads="1"/>
          </p:cNvSpPr>
          <p:nvPr/>
        </p:nvSpPr>
        <p:spPr>
          <a:xfrm>
            <a:off x="1672167" y="231775"/>
            <a:ext cx="9448800" cy="685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华文新魏" panose="0201080004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华文新魏" panose="0201080004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华文新魏" panose="0201080004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华文新魏" panose="0201080004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华文新魏" panose="0201080004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华文新魏" panose="0201080004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华文新魏" panose="0201080004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华文新魏" panose="0201080004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dirty="0" smtClean="0">
                <a:sym typeface="+mn-ea"/>
              </a:rPr>
              <a:t>第二周任务</a:t>
            </a:r>
            <a:endParaRPr lang="zh-CN" dirty="0" smtClean="0">
              <a:sym typeface="+mn-ea"/>
            </a:endParaRPr>
          </a:p>
        </p:txBody>
      </p:sp>
      <p:sp>
        <p:nvSpPr>
          <p:cNvPr id="4" name="文本占位符 1"/>
          <p:cNvSpPr/>
          <p:nvPr/>
        </p:nvSpPr>
        <p:spPr>
          <a:xfrm>
            <a:off x="407035" y="909320"/>
            <a:ext cx="11480800" cy="53187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9pPr>
          </a:lstStyle>
          <a:p>
            <a:pPr latinLnBrk="0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</a:pPr>
            <a:r>
              <a:rPr lang="zh-CN" altLang="en-US"/>
              <a:t>开发完成</a:t>
            </a:r>
            <a:r>
              <a:rPr lang="en-US" altLang="zh-CN"/>
              <a:t>C</a:t>
            </a:r>
            <a:r>
              <a:rPr lang="zh-CN" altLang="en-US"/>
              <a:t>端模拟器</a:t>
            </a:r>
            <a:r>
              <a:rPr lang="en-US" altLang="zh-CN"/>
              <a:t>Simulator</a:t>
            </a:r>
            <a:r>
              <a:rPr lang="zh-CN" altLang="en-US"/>
              <a:t>，能将至少</a:t>
            </a:r>
            <a:r>
              <a:rPr lang="en-US" altLang="zh-CN"/>
              <a:t>2</a:t>
            </a:r>
            <a:r>
              <a:rPr lang="zh-CN" altLang="en-US"/>
              <a:t>种数据保存至文件，要求有多线程；</a:t>
            </a:r>
            <a:endParaRPr lang="zh-CN" altLang="en-US"/>
          </a:p>
          <a:p>
            <a:pPr latinLnBrk="0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</a:pPr>
            <a:endParaRPr lang="zh-CN" altLang="en-US"/>
          </a:p>
          <a:p>
            <a:pPr latinLnBrk="0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</a:pPr>
            <a:r>
              <a:rPr lang="zh-CN" altLang="en-US"/>
              <a:t>购买云服务器，将</a:t>
            </a:r>
            <a:r>
              <a:rPr lang="en-US" altLang="zh-CN">
                <a:sym typeface="+mn-ea"/>
              </a:rPr>
              <a:t>Simulator</a:t>
            </a:r>
            <a:r>
              <a:rPr lang="zh-CN" altLang="en-US"/>
              <a:t>（不用</a:t>
            </a:r>
            <a:r>
              <a:rPr lang="en-US" altLang="zh-CN"/>
              <a:t>GUI</a:t>
            </a:r>
            <a:r>
              <a:rPr lang="zh-CN" altLang="en-US"/>
              <a:t>）部署到</a:t>
            </a:r>
            <a:r>
              <a:rPr lang="en-US" altLang="zh-CN"/>
              <a:t>Linux</a:t>
            </a:r>
            <a:r>
              <a:rPr lang="zh-CN" altLang="en-US"/>
              <a:t>系统；</a:t>
            </a:r>
            <a:endParaRPr lang="zh-CN" altLang="en-US"/>
          </a:p>
          <a:p>
            <a:pPr latinLnBrk="0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</a:pPr>
            <a:endParaRPr lang="zh-CN" altLang="en-US"/>
          </a:p>
          <a:p>
            <a:pPr latinLnBrk="0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</a:pPr>
            <a:r>
              <a:rPr lang="zh-CN" altLang="en-US"/>
              <a:t>能够将</a:t>
            </a:r>
            <a:r>
              <a:rPr lang="en-US" altLang="zh-CN">
                <a:sym typeface="+mn-ea"/>
              </a:rPr>
              <a:t>Simulator</a:t>
            </a:r>
            <a:r>
              <a:rPr lang="zh-CN" altLang="en-US"/>
              <a:t>部署到</a:t>
            </a:r>
            <a:r>
              <a:rPr lang="en-US" altLang="zh-CN"/>
              <a:t>Docker</a:t>
            </a:r>
            <a:r>
              <a:rPr lang="zh-CN" altLang="en-US"/>
              <a:t>中，能够一键启动多个</a:t>
            </a:r>
            <a:r>
              <a:rPr lang="en-US" altLang="zh-CN"/>
              <a:t>Docker</a:t>
            </a:r>
            <a:r>
              <a:rPr lang="zh-CN" altLang="en-US"/>
              <a:t>，每个</a:t>
            </a:r>
            <a:r>
              <a:rPr lang="en-US" altLang="zh-CN"/>
              <a:t>Docker</a:t>
            </a:r>
            <a:r>
              <a:rPr lang="zh-CN" altLang="en-US"/>
              <a:t>自启动</a:t>
            </a:r>
            <a:r>
              <a:rPr lang="en-US" altLang="zh-CN">
                <a:sym typeface="+mn-ea"/>
              </a:rPr>
              <a:t>Simulator</a:t>
            </a:r>
            <a:r>
              <a:rPr lang="zh-CN" altLang="en-US">
                <a:sym typeface="+mn-ea"/>
              </a:rPr>
              <a:t>；</a:t>
            </a:r>
            <a:endParaRPr lang="zh-CN" altLang="en-US"/>
          </a:p>
          <a:p>
            <a:pPr latinLnBrk="0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</a:pPr>
            <a:endParaRPr lang="zh-CN" altLang="en-US"/>
          </a:p>
          <a:p>
            <a:pPr latinLnBrk="0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</a:pPr>
            <a:r>
              <a:rPr lang="zh-CN"/>
              <a:t>录屏，制作汇报</a:t>
            </a:r>
            <a:r>
              <a:rPr lang="en-US" altLang="zh-CN"/>
              <a:t>PPT</a:t>
            </a:r>
            <a:r>
              <a:rPr lang="zh-CN" altLang="en-US"/>
              <a:t>，第三周进行第一阶段验收。</a:t>
            </a:r>
            <a:endParaRPr lang="zh-CN" altLang="en-US"/>
          </a:p>
        </p:txBody>
      </p:sp>
    </p:spTree>
  </p:cSld>
  <p:clrMapOvr>
    <a:masterClrMapping/>
  </p:clrMapOvr>
</p:sld>
</file>

<file path=ppt/tags/tag2.xml><?xml version="1.0" encoding="utf-8"?>
<p:tagLst xmlns:p="http://schemas.openxmlformats.org/presentationml/2006/main">
  <p:tag name="KSO_WPP_MARK_KEY" val="1d57c892-e6af-4e38-a903-68dadd506c7c"/>
  <p:tag name="COMMONDATA" val="eyJoZGlkIjoiODViY2JkMjU3NGYzZTEwMzZmMGFkZWViYmNkYWU3NDIifQ=="/>
  <p:tag name="commondata" val="eyJoZGlkIjoiNmVkODA1Mzg0NTk4NGJmNTJhNmI4OTFjZmZmYzhhNjMifQ=="/>
</p:tagLst>
</file>

<file path=ppt/theme/theme1.xml><?xml version="1.0" encoding="utf-8"?>
<a:theme xmlns:a="http://schemas.openxmlformats.org/drawingml/2006/main" name="程序设计技术课件模板">
  <a:themeElements>
    <a:clrScheme name="程序设计技术课件模板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程序设计技术课件模板">
      <a:majorFont>
        <a:latin typeface="Tahoma"/>
        <a:ea typeface="华文新魏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程序设计技术课件模板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程序设计技术课件模板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程序设计技术课件模板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程序设计技术课件模板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程序设计技术课件模板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程序设计技术课件模板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程序设计技术课件模板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F35B0BEE-F18A-47BB-8FCB-E00DA2F2635D-1">
      <extobjdata type="F35B0BEE-F18A-47BB-8FCB-E00DA2F2635D" data="ewoJIkRlc2lnbklkIiA6ICJlOTkzZDY1ZC1mZDM5LTRkYWMtYjNkMy0xZGUzM2Q3ODg2MDUiCn0K"/>
    </extobj>
  </extobjs>
</s:customData>
</file>

<file path=customXml/itemProps1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程序设计技术课件模板</Template>
  <TotalTime>0</TotalTime>
  <Words>4381</Words>
  <Application>WPS 演示</Application>
  <PresentationFormat>宽屏</PresentationFormat>
  <Paragraphs>321</Paragraphs>
  <Slides>46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46</vt:i4>
      </vt:variant>
    </vt:vector>
  </HeadingPairs>
  <TitlesOfParts>
    <vt:vector size="60" baseType="lpstr">
      <vt:lpstr>Arial</vt:lpstr>
      <vt:lpstr>宋体</vt:lpstr>
      <vt:lpstr>Wingdings</vt:lpstr>
      <vt:lpstr>Tahoma</vt:lpstr>
      <vt:lpstr>华文新魏</vt:lpstr>
      <vt:lpstr>仿宋_GB2312</vt:lpstr>
      <vt:lpstr>仿宋</vt:lpstr>
      <vt:lpstr>微软雅黑</vt:lpstr>
      <vt:lpstr>Wingdings</vt:lpstr>
      <vt:lpstr>Cambria Math</vt:lpstr>
      <vt:lpstr>Arial Unicode MS</vt:lpstr>
      <vt:lpstr>Calibri</vt:lpstr>
      <vt:lpstr>华文楷体</vt:lpstr>
      <vt:lpstr>程序设计技术课件模板</vt:lpstr>
      <vt:lpstr>《软件设计》 桌面应用：C端产品数据模拟器</vt:lpstr>
      <vt:lpstr>桌面应用：C端产品数据模拟器</vt:lpstr>
      <vt:lpstr>7. 用Git管理代码--版本控制</vt:lpstr>
      <vt:lpstr>7. 用Git管理代码--Git的分布式存储</vt:lpstr>
      <vt:lpstr>7. 用Git管理代码--Git的四个工作区域</vt:lpstr>
      <vt:lpstr>7. 用Git管理代码--Git工作流</vt:lpstr>
      <vt:lpstr>7. 用Git管理代码--分支</vt:lpstr>
      <vt:lpstr>7. 用Git管理代码--分支</vt:lpstr>
      <vt:lpstr>7. 用Git管理代码--管理自己的代码</vt:lpstr>
      <vt:lpstr>7. 用Git管理代码--管理自己的代码</vt:lpstr>
      <vt:lpstr>7. 用Git管理代码--Gitee</vt:lpstr>
      <vt:lpstr>7. 用Git管理代码--Gitee仓库的创建</vt:lpstr>
      <vt:lpstr>7. 用Git管理代码--Gitee仓库的创建</vt:lpstr>
      <vt:lpstr>7. 用Git管理代码--Gitee仓库的创建</vt:lpstr>
      <vt:lpstr>7. 用Git管理代码--Gitee仓库的创建</vt:lpstr>
      <vt:lpstr>7. 用Git管理代码--VS Code与Gitee</vt:lpstr>
      <vt:lpstr>7. 用Git管理代码--配置本机Git</vt:lpstr>
      <vt:lpstr>7. 用Git管理代码--配置本机Git</vt:lpstr>
      <vt:lpstr>7. 用Git管理代码--非对称加密</vt:lpstr>
      <vt:lpstr>7. 用Git管理代码--生成本地的SSH公钥</vt:lpstr>
      <vt:lpstr>7. 用Git管理代码--SSH公钥保存到Gitee</vt:lpstr>
      <vt:lpstr>7. 用Git管理代码--本地绑定ssh</vt:lpstr>
      <vt:lpstr>7. 用Git管理代码--在本地vscode克隆</vt:lpstr>
      <vt:lpstr>7. 用Git管理代码--在本地vscode克隆</vt:lpstr>
      <vt:lpstr>7. 用Git管理代码--VSCode代码的更新过程</vt:lpstr>
      <vt:lpstr>7. 用Git管理代码--VSCode代码的分支</vt:lpstr>
      <vt:lpstr>7. 用Git管理代码--课堂练习</vt:lpstr>
      <vt:lpstr>桌面应用：C端产品数据模拟器</vt:lpstr>
      <vt:lpstr>8. 在Linux系统上部署模拟器--Linux简介</vt:lpstr>
      <vt:lpstr>8. 在Linux系统上部署模拟器--Linux发型版本</vt:lpstr>
      <vt:lpstr>8. 在Linux系统上部署模拟器--Linux目录结构</vt:lpstr>
      <vt:lpstr>8. 在Linux系统上部署模拟器--Linux常用命令</vt:lpstr>
      <vt:lpstr>8. 在Linux系统上部署模拟器--申请云服务器</vt:lpstr>
      <vt:lpstr>8. 在Linux系统上部署模拟器--课堂练习</vt:lpstr>
      <vt:lpstr>桌面应用：C端产品数据模拟器</vt:lpstr>
      <vt:lpstr>9. Docker容器--虚拟化和容器</vt:lpstr>
      <vt:lpstr>9. Docker容器--虚拟化和容器</vt:lpstr>
      <vt:lpstr>9. Docker容器--什么是docker</vt:lpstr>
      <vt:lpstr>9. Docker容器--在Linux中安装docker</vt:lpstr>
      <vt:lpstr>9. Docker容器--下载并启动Python镜像</vt:lpstr>
      <vt:lpstr>9. Docker容器--在docker中clone并运行代码</vt:lpstr>
      <vt:lpstr>9. Docker容器--将docker环境保存为镜像</vt:lpstr>
      <vt:lpstr>9. Docker容器--使用Dockerfile方式创建镜像</vt:lpstr>
      <vt:lpstr>9. Docker容器--使用脚本批量启动docker</vt:lpstr>
      <vt:lpstr>9. Docker容器--使用kubernetes管理docker容器</vt:lpstr>
      <vt:lpstr>PowerPoint 演示文稿</vt:lpstr>
    </vt:vector>
  </TitlesOfParts>
  <Company>陈恒鑫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C++综合实验</dc:title>
  <dc:creator>陈恒鑫</dc:creator>
  <cp:lastModifiedBy>admin</cp:lastModifiedBy>
  <cp:revision>1041</cp:revision>
  <dcterms:created xsi:type="dcterms:W3CDTF">2005-10-02T02:06:00Z</dcterms:created>
  <dcterms:modified xsi:type="dcterms:W3CDTF">2026-03-17T07:07:45Z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61F4DBC2A8C941DBAB1136E8180F34CF</vt:lpwstr>
  </property>
</Properties>
</file>