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3"/>
    <p:sldId id="403" r:id="rId4"/>
    <p:sldId id="651" r:id="rId5"/>
    <p:sldId id="654" r:id="rId6"/>
    <p:sldId id="655" r:id="rId7"/>
    <p:sldId id="797" r:id="rId8"/>
    <p:sldId id="656" r:id="rId9"/>
    <p:sldId id="667" r:id="rId10"/>
    <p:sldId id="657" r:id="rId11"/>
    <p:sldId id="668" r:id="rId12"/>
    <p:sldId id="674" r:id="rId13"/>
    <p:sldId id="658" r:id="rId14"/>
    <p:sldId id="675" r:id="rId15"/>
    <p:sldId id="659" r:id="rId16"/>
    <p:sldId id="798" r:id="rId17"/>
    <p:sldId id="678" r:id="rId18"/>
    <p:sldId id="676" r:id="rId19"/>
    <p:sldId id="677" r:id="rId20"/>
    <p:sldId id="799" r:id="rId21"/>
    <p:sldId id="682" r:id="rId22"/>
    <p:sldId id="685" r:id="rId23"/>
    <p:sldId id="683" r:id="rId24"/>
    <p:sldId id="690" r:id="rId25"/>
    <p:sldId id="800" r:id="rId26"/>
    <p:sldId id="695" r:id="rId27"/>
    <p:sldId id="696" r:id="rId28"/>
    <p:sldId id="698" r:id="rId29"/>
    <p:sldId id="697" r:id="rId30"/>
    <p:sldId id="699" r:id="rId31"/>
    <p:sldId id="700" r:id="rId32"/>
    <p:sldId id="692" r:id="rId33"/>
    <p:sldId id="702" r:id="rId34"/>
    <p:sldId id="693" r:id="rId35"/>
    <p:sldId id="703" r:id="rId36"/>
    <p:sldId id="701" r:id="rId37"/>
    <p:sldId id="694" r:id="rId38"/>
    <p:sldId id="807" r:id="rId39"/>
    <p:sldId id="801" r:id="rId40"/>
    <p:sldId id="805" r:id="rId41"/>
    <p:sldId id="806" r:id="rId42"/>
  </p:sldIdLst>
  <p:sldSz cx="12192000" cy="6858000"/>
  <p:notesSz cx="6858000" cy="9144000"/>
  <p:custDataLst>
    <p:tags r:id="rId5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CC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7"/>
    <p:restoredTop sz="86352"/>
  </p:normalViewPr>
  <p:slideViewPr>
    <p:cSldViewPr showGuides="1">
      <p:cViewPr varScale="1">
        <p:scale>
          <a:sx n="109" d="100"/>
          <a:sy n="109" d="100"/>
        </p:scale>
        <p:origin x="216" y="256"/>
      </p:cViewPr>
      <p:guideLst>
        <p:guide orient="horz" pos="2159"/>
        <p:guide pos="3949"/>
      </p:guideLst>
    </p:cSldViewPr>
  </p:slideViewPr>
  <p:outlineViewPr>
    <p:cViewPr>
      <p:scale>
        <a:sx n="33" d="100"/>
        <a:sy n="33" d="100"/>
      </p:scale>
      <p:origin x="0" y="2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5.xml"/><Relationship Id="rId5" Type="http://schemas.openxmlformats.org/officeDocument/2006/relationships/slide" Target="slides/slide3.xml"/><Relationship Id="rId49" Type="http://schemas.openxmlformats.org/officeDocument/2006/relationships/customXml" Target="../customXml/item1.xml"/><Relationship Id="rId48" Type="http://schemas.openxmlformats.org/officeDocument/2006/relationships/customXmlProps" Target="../customXml/itemProps4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119409-6C52-4574-BDC8-7D7A8A79503A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2590AA-DB8C-4F5F-94DE-8AD7FEF8C5B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 userDrawn="1"/>
        </p:nvGrpSpPr>
        <p:grpSpPr>
          <a:xfrm>
            <a:off x="0" y="3155950"/>
            <a:ext cx="12012084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2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4003F8-76D8-40E2-8852-AD17ED6E138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17000" y="228600"/>
            <a:ext cx="2870200" cy="6400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8407400" cy="6400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ltGray">
          <a:xfrm>
            <a:off x="488951" y="168910"/>
            <a:ext cx="6223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999067" y="168910"/>
            <a:ext cx="465667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ltGray">
          <a:xfrm>
            <a:off x="654051" y="591185"/>
            <a:ext cx="599017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 userDrawn="1"/>
        </p:nvSpPr>
        <p:spPr bwMode="ltGray">
          <a:xfrm>
            <a:off x="1147233" y="591185"/>
            <a:ext cx="52281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ltGray">
          <a:xfrm>
            <a:off x="304800" y="546735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gray">
          <a:xfrm>
            <a:off x="948267" y="60960"/>
            <a:ext cx="99484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gray">
          <a:xfrm>
            <a:off x="522817" y="851535"/>
            <a:ext cx="11669184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45167" y="104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156335"/>
            <a:ext cx="11480800" cy="55797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tags" Target="../tags/tag3.xml"/><Relationship Id="rId1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emf"/><Relationship Id="rId1" Type="http://schemas.openxmlformats.org/officeDocument/2006/relationships/oleObject" Target="../embeddings/oleObject1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265" y="1317625"/>
            <a:ext cx="10690225" cy="281876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《软件</a:t>
            </a: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设计》</a:t>
            </a:r>
            <a:b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</a:b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桌面应用：</a:t>
            </a:r>
            <a: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C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端产品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数据模拟器</a:t>
            </a:r>
            <a:endParaRPr kumimoji="1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3215323" y="4794885"/>
            <a:ext cx="5864225" cy="1990725"/>
          </a:xfrm>
        </p:spPr>
        <p:txBody>
          <a:bodyPr vert="horz" wrap="square" lIns="91440" tIns="45720" rIns="91440" bIns="45720" anchor="t"/>
          <a:lstStyle/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陈恒鑫</a:t>
            </a:r>
            <a:endParaRPr kumimoji="1"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重庆大学计算机学院</a:t>
            </a:r>
            <a:endParaRPr kumimoji="1"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E-Mail:  chenhengxin@cqu.edu.cn</a:t>
            </a:r>
            <a:endParaRPr kumimoji="1" lang="en-US" altLang="zh-CN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126968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1. </a:t>
            </a:r>
            <a:r>
              <a:rPr lang="zh-CN" altLang="en-US" dirty="0" smtClean="0"/>
              <a:t>任务</a:t>
            </a:r>
            <a:r>
              <a:rPr lang="zh-CN" altLang="en-US" dirty="0" smtClean="0"/>
              <a:t>要求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indent="0" algn="l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）功能要求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40000"/>
              </a:lnSpc>
              <a:spcBef>
                <a:spcPts val="12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随机生成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40000"/>
              </a:lnSpc>
              <a:spcBef>
                <a:spcPts val="12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数据产生要尽量贴近真实（例如：血压要基本吻合高血压病人的血压变化波动，符合高斯分布）；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40000"/>
              </a:lnSpc>
              <a:spcBef>
                <a:spcPts val="12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产生的数据存入文件，运行记录存入日志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40000"/>
              </a:lnSpc>
              <a:spcBef>
                <a:spcPts val="12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GUI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窗口配置参数和监控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模拟器运行；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40000"/>
              </a:lnSpc>
              <a:spcBef>
                <a:spcPts val="12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应用程序使用多线程方式模拟10个设备定期的数据产生，可以用批处理的方式启动大量的模拟器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1. </a:t>
            </a:r>
            <a:r>
              <a:rPr lang="zh-CN" altLang="en-US" dirty="0" smtClean="0"/>
              <a:t>任务</a:t>
            </a:r>
            <a:r>
              <a:rPr lang="zh-CN" altLang="en-US" dirty="0" smtClean="0"/>
              <a:t>要求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）分档验收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及格：单线程模拟产生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个设备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数据，具备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GUI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界面；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中：能使用多线程产生10个设备的数据，数据和日志能写入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良：产生的数据能够符合文献描述的规律；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优：能够使用docker批量启动大量的模拟器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1. </a:t>
            </a:r>
            <a:r>
              <a:rPr lang="zh-CN" altLang="en-US" dirty="0" smtClean="0"/>
              <a:t>任务</a:t>
            </a:r>
            <a:r>
              <a:rPr lang="zh-CN" altLang="en-US" dirty="0" smtClean="0"/>
              <a:t>要求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386185" cy="5608320"/>
          </a:xfrm>
        </p:spPr>
        <p:txBody>
          <a:bodyPr/>
          <a:lstStyle/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）分工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建议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产生数据、符合文献规律、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多线程：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将数据写入文件、验证是否符合规律、写日志文件、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GUI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界面：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将系统部署到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linux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服务器、批量启动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docker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容器：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（4）验收时间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第3次课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191547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</a:t>
            </a:r>
            <a:r>
              <a:rPr lang="zh-CN" altLang="en-US" dirty="0" smtClean="0"/>
              <a:t>随机数</a:t>
            </a:r>
            <a:r>
              <a:rPr lang="en-US" altLang="zh-CN" dirty="0" smtClean="0"/>
              <a:t>--</a:t>
            </a:r>
            <a:r>
              <a:rPr lang="zh-CN" altLang="en-US" dirty="0" smtClean="0"/>
              <a:t>在计算机系统的</a:t>
            </a:r>
            <a:r>
              <a:rPr lang="zh-CN" altLang="en-US" dirty="0" smtClean="0"/>
              <a:t>应用</a:t>
            </a:r>
            <a:endParaRPr lang="zh-CN" altLang="en-US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2059940"/>
            <a:ext cx="3006725" cy="331343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4151630" y="2564765"/>
            <a:ext cx="3889375" cy="214884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8183880" y="1918335"/>
            <a:ext cx="3776345" cy="32397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8155" y="5804535"/>
            <a:ext cx="901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游戏</a:t>
            </a:r>
            <a:endParaRPr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2920" y="5804535"/>
            <a:ext cx="901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加密</a:t>
            </a:r>
            <a:endParaRPr lang="zh-CN" altLang="en-US" sz="28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08160" y="5805170"/>
            <a:ext cx="18345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模拟仿真</a:t>
            </a:r>
            <a:endParaRPr lang="zh-CN" altLang="en-US" sz="28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</a:t>
            </a:r>
            <a:r>
              <a:rPr lang="zh-CN" altLang="en-US" dirty="0" smtClean="0"/>
              <a:t>随机数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在计算机系统的应用</a:t>
            </a:r>
            <a:endParaRPr lang="zh-CN" altLang="en-US" dirty="0" smtClean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207895" y="1271905"/>
            <a:ext cx="2329815" cy="1736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5087620" y="1560195"/>
            <a:ext cx="4419600" cy="1041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167755" y="2784475"/>
            <a:ext cx="2793365" cy="28962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1847850" y="4800600"/>
            <a:ext cx="4157345" cy="577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algn="l">
              <a:buNone/>
            </a:pPr>
            <a:r>
              <a:rPr lang="zh-CN" altLang="en-US" sz="2400" b="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使用蒙特卡洛算法计算圆周率</a:t>
            </a:r>
            <a:endParaRPr kumimoji="1" lang="zh-CN" altLang="en-US" sz="2400" i="0" u="none" strike="noStrike" kern="0" cap="none" spc="0" normalizeH="0" baseline="0" dirty="0" smtClean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00640" y="6165215"/>
            <a:ext cx="18942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1.1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</a:t>
            </a:r>
            <a:r>
              <a:rPr lang="zh-CN" altLang="en-US" dirty="0" smtClean="0"/>
              <a:t>随机数--</a:t>
            </a:r>
            <a:r>
              <a:rPr lang="zh-CN" altLang="en-US" dirty="0" smtClean="0">
                <a:sym typeface="+mn-ea"/>
              </a:rPr>
              <a:t>伪随机数原理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2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20015" y="1052830"/>
                <a:ext cx="11884025" cy="5608320"/>
              </a:xfrm>
            </p:spPr>
            <p:txBody>
              <a:bodyPr/>
              <a:lstStyle/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zh-CN" altLang="en-US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kumimoji="0" lang="en-US" altLang="zh-CN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    </a:t>
                </a:r>
                <a:r>
                  <a:rPr kumimoji="0" lang="zh-CN" altLang="en-US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线性同余发生器</a:t>
                </a:r>
                <a:r>
                  <a:rPr kumimoji="0" lang="zh-CN" altLang="en-US" sz="2800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（Linear congruential generator，LCG）：</a:t>
                </a:r>
                <a:endParaRPr kumimoji="0" lang="zh-CN" altLang="en-US" i="1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0" lang="en-US" altLang="zh-CN" b="1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𝑿</m:t>
                          </m:r>
                        </m:e>
                        <m:sub>
                          <m:r>
                            <a:rPr kumimoji="0" lang="en-US" altLang="zh-CN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𝒏</m:t>
                          </m:r>
                          <m:r>
                            <a:rPr kumimoji="0" lang="en-US" altLang="zh-CN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0" lang="en-US" altLang="zh-CN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kumimoji="0" lang="en-US" altLang="zh-CN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=(</m:t>
                      </m:r>
                      <m:r>
                        <a:rPr kumimoji="0" lang="en-US" altLang="zh-CN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𝒂</m:t>
                      </m:r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∙</m:t>
                      </m:r>
                      <m:sSub>
                        <m:sSubPr>
                          <m:ctrlPr>
                            <a:rPr kumimoji="0" lang="en-US" altLang="zh-CN" b="1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0" lang="en-US" altLang="zh-CN" b="1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𝑿</m:t>
                          </m:r>
                        </m:e>
                        <m:sub>
                          <m:r>
                            <a:rPr kumimoji="0" lang="en-US" altLang="zh-CN" b="1" i="1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𝒏</m:t>
                          </m:r>
                        </m:sub>
                      </m:sSub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𝒃</m:t>
                      </m:r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) </m:t>
                      </m:r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𝒎𝒐𝒅</m:t>
                      </m:r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 </m:t>
                      </m:r>
                      <m:r>
                        <a:rPr kumimoji="0" lang="en-US" altLang="zh-CN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𝒎</m:t>
                      </m:r>
                    </m:oMath>
                  </m:oMathPara>
                </a14:m>
                <a:endParaRPr kumimoji="0" lang="zh-CN" altLang="en-US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   </a:t>
                </a:r>
                <a:r>
                  <a:rPr kumimoji="0" lang="zh-CN" altLang="en-US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</a:t>
                </a:r>
                <a:endParaRPr kumimoji="0" lang="zh-CN" altLang="en-US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457200" lvl="1" indent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sz="2800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</a:t>
                </a:r>
                <a:r>
                  <a:rPr kumimoji="0" lang="zh-CN" altLang="en-US" sz="2800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可以产生随机数序列：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  <m:r>
                      <a:rPr kumimoji="0" lang="zh-CN" altLang="en-US" sz="2800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→</m:t>
                    </m:r>
                    <m:sSub>
                      <m:sSubPr>
                        <m:ctrlP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kumimoji="0" lang="zh-CN" altLang="en-US" sz="2800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→</m:t>
                    </m:r>
                    <m:sSub>
                      <m:sSubPr>
                        <m:ctrlP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→⋯→</m:t>
                        </m:r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kumimoji="0" lang="zh-CN" altLang="en-US" sz="2800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zh-CN" altLang="en-US" sz="2800" b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0" lang="zh-CN" altLang="en-US" sz="2800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被称为种子</a:t>
                </a:r>
                <a:endParaRPr kumimoji="0" lang="zh-CN" altLang="en-US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      </a:t>
                </a:r>
                <a:endParaRPr kumimoji="0" lang="en-US" altLang="zh-CN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      </a:t>
                </a:r>
                <a:r>
                  <a:rPr kumimoji="0" lang="zh-CN" altLang="en-US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例如：</a:t>
                </a:r>
                <a:r>
                  <a:rPr kumimoji="0" lang="en-US" altLang="zh-CN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en-US" altLang="zh-CN" b="1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zh-CN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𝒏</m:t>
                        </m:r>
                        <m:r>
                          <a:rPr kumimoji="0" lang="en-US" altLang="zh-CN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0" lang="en-US" altLang="zh-CN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kumimoji="0" lang="en-US" altLang="zh-CN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=(</m:t>
                    </m:r>
                    <m:r>
                      <a:rPr kumimoji="0" lang="en-US" altLang="zh-CN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𝟗𝟑𝟎𝟏</m:t>
                    </m:r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∙</m:t>
                    </m:r>
                    <m:sSub>
                      <m:sSubPr>
                        <m:ctrlPr>
                          <a:rPr kumimoji="0" lang="en-US" altLang="zh-CN" b="1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0" lang="en-US" altLang="zh-CN" b="1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zh-CN" b="1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𝒏</m:t>
                        </m:r>
                      </m:sub>
                    </m:sSub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+</m:t>
                    </m:r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𝟒𝟗𝟐𝟗𝟕</m:t>
                    </m:r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) </m:t>
                    </m:r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𝒎𝒐𝒅</m:t>
                    </m:r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 </m:t>
                    </m:r>
                    <m:r>
                      <a:rPr kumimoji="0" lang="en-US" altLang="zh-CN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𝟐𝟑𝟑𝟐𝟖𝟎</m:t>
                    </m:r>
                  </m:oMath>
                </a14:m>
                <a:endParaRPr kumimoji="0" lang="en-US" altLang="zh-CN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457200" lvl="1" indent="457200" algn="ctr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    7216</a:t>
                </a:r>
                <a14:m>
                  <m:oMath xmlns:m="http://schemas.openxmlformats.org/officeDocument/2006/math">
                    <m:r>
                      <a:rPr kumimoji="0" lang="zh-CN" altLang="en-US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→</m:t>
                    </m:r>
                    <m:r>
                      <a:rPr kumimoji="0" lang="zh-CN" altLang="en-US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4001</m:t>
                    </m:r>
                    <m:r>
                      <a:rPr kumimoji="0" lang="zh-CN" altLang="en-US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→</m:t>
                    </m:r>
                    <m:r>
                      <a:rPr kumimoji="0" lang="zh-CN" altLang="en-US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7782</m:t>
                    </m:r>
                    <m:r>
                      <a:rPr kumimoji="0" lang="en-US" altLang="zh-CN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→</m:t>
                    </m:r>
                    <m:r>
                      <a:rPr kumimoji="0" lang="en-US" altLang="zh-CN" b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⋯→</m:t>
                    </m:r>
                    <m:r>
                      <a:rPr kumimoji="0" lang="en-US" altLang="zh-CN" b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19321</m:t>
                    </m:r>
                  </m:oMath>
                </a14:m>
                <a:endParaRPr kumimoji="0" lang="en-US" altLang="zh-CN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        </a:t>
                </a:r>
                <a:endParaRPr kumimoji="0" lang="en-US" altLang="zh-CN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pPr marL="0" algn="l" eaLnBrk="1" hangingPunct="1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charset="0"/>
                  <a:buNone/>
                </a:pPr>
                <a:r>
                  <a:rPr kumimoji="0" lang="en-US" altLang="zh-CN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           </a:t>
                </a:r>
                <a:r>
                  <a:rPr kumimoji="0" lang="zh-CN" altLang="en-US" b="0" noProof="0" dirty="0" smtClean="0">
                    <a:ln>
                      <a:noFill/>
                    </a:ln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LCG是一种均匀分布的伪随机数生成方法</a:t>
                </a:r>
                <a:endParaRPr kumimoji="0" lang="zh-CN" altLang="en-US" b="0" noProof="0" dirty="0" smtClean="0">
                  <a:ln>
                    <a:noFill/>
                  </a:ln>
                  <a:effectLst/>
                  <a:uLnTx/>
                  <a:uFillTx/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72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0015" y="1052830"/>
                <a:ext cx="11884025" cy="5608320"/>
              </a:xfrm>
              <a:blipFill rotWithShape="1">
                <a:blip r:embed="rId1"/>
                <a:stretch>
                  <a:fillRect b="-1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0200640" y="6165215"/>
            <a:ext cx="18942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1.2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</a:t>
            </a:r>
            <a:r>
              <a:rPr lang="zh-CN" altLang="en-US" dirty="0" smtClean="0"/>
              <a:t>随机数</a:t>
            </a:r>
            <a:r>
              <a:rPr lang="zh-CN" altLang="en-US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伪随机数原理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" y="1052830"/>
            <a:ext cx="11884025" cy="716280"/>
          </a:xfrm>
        </p:spPr>
        <p:txBody>
          <a:bodyPr/>
          <a:lstStyle/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应用：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</a:rPr>
              <a:t>一次性密码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Cambria Math" panose="02040503050406030204" charset="0"/>
              <a:ea typeface="微软雅黑" panose="020B0503020204020204" pitchFamily="34" charset="-122"/>
              <a:cs typeface="Cambria Math" panose="0204050305040603020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3719830" y="2228215"/>
            <a:ext cx="4031615" cy="24009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5325" y="5301615"/>
            <a:ext cx="10922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采用</a:t>
            </a:r>
            <a:r>
              <a:rPr lang="en-US" altLang="zh-CN" noProof="0" dirty="0" smtClean="0">
                <a:ln>
                  <a:noFill/>
                </a:ln>
                <a:effectLst/>
                <a:uLnTx/>
                <a:uFillTx/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LCG</a:t>
            </a: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方法，将参数固化并保密，定期产生下一个序列数，只要参数不泄露就安全。每一台设备的参数都是不同</a:t>
            </a: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Cambria Math" panose="02040503050406030204" charset="0"/>
                <a:ea typeface="微软雅黑" panose="020B0503020204020204" pitchFamily="34" charset="-122"/>
                <a:cs typeface="Cambria Math" panose="02040503050406030204" charset="0"/>
                <a:sym typeface="+mn-ea"/>
              </a:rPr>
              <a:t>的。</a:t>
            </a:r>
            <a:endParaRPr lang="zh-CN" altLang="en-US" noProof="0" dirty="0" smtClean="0">
              <a:ln>
                <a:noFill/>
              </a:ln>
              <a:effectLst/>
              <a:uLnTx/>
              <a:uFillTx/>
              <a:latin typeface="Cambria Math" panose="02040503050406030204" charset="0"/>
              <a:ea typeface="微软雅黑" panose="020B0503020204020204" pitchFamily="34" charset="-122"/>
              <a:cs typeface="Cambria Math" panose="02040503050406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2. 随机数--</a:t>
            </a:r>
            <a:r>
              <a:rPr lang="zh-CN" altLang="en-US" dirty="0" smtClean="0">
                <a:sym typeface="+mn-ea"/>
              </a:rPr>
              <a:t>用Python产生随机数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909320"/>
            <a:ext cx="10820400" cy="667385"/>
          </a:xfrm>
        </p:spPr>
        <p:txBody>
          <a:bodyPr/>
          <a:lstStyle/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方式一：使用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random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629410"/>
            <a:ext cx="8604885" cy="294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4772025"/>
            <a:ext cx="3102610" cy="1362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5325" y="6237605"/>
            <a:ext cx="98494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参考：https://docs.python.org/3/library/random.html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056495" y="4076700"/>
            <a:ext cx="18942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1.3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2. 随机数--</a:t>
            </a:r>
            <a:r>
              <a:rPr lang="zh-CN" altLang="en-US" dirty="0" smtClean="0">
                <a:sym typeface="+mn-ea"/>
              </a:rPr>
              <a:t>用Python产生随机数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51565" cy="5608320"/>
          </a:xfrm>
        </p:spPr>
        <p:txBody>
          <a:bodyPr/>
          <a:lstStyle/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方式二：使用numpy库（需要安装：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pip3 install numpy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1844040"/>
            <a:ext cx="6873875" cy="30302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7670" y="6309360"/>
            <a:ext cx="9241790" cy="521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参考：https://numpy.org/doc/stable/reference/random/index.html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4580890"/>
            <a:ext cx="5050155" cy="16592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056495" y="3932555"/>
            <a:ext cx="18942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1.4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</a:t>
            </a:r>
            <a:r>
              <a:rPr lang="zh-CN" altLang="en-US" dirty="0" smtClean="0"/>
              <a:t>随机数</a:t>
            </a:r>
            <a:r>
              <a:rPr lang="en-US" altLang="zh-CN" dirty="0" smtClean="0"/>
              <a:t>--</a:t>
            </a:r>
            <a:r>
              <a:rPr lang="zh-CN" altLang="en-US" dirty="0" smtClean="0"/>
              <a:t>课堂练习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开发一个扔骰子的小游戏。给出代码框架，请完成以下任务：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在指定行写代码，随机更换显示的图片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按照点数顺序切换图片，点击结束后，随机显示一张图片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42070" y="5984875"/>
            <a:ext cx="2857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【练习：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Dice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</a:t>
            </a:r>
            <a:r>
              <a:rPr lang="zh-CN" altLang="en-US" dirty="0" smtClean="0"/>
              <a:t>随机数</a:t>
            </a:r>
            <a:r>
              <a:rPr lang="en-US" altLang="zh-CN" dirty="0" smtClean="0"/>
              <a:t>--</a:t>
            </a:r>
            <a:r>
              <a:rPr lang="zh-CN" altLang="en-US" dirty="0" smtClean="0"/>
              <a:t>让血压数据</a:t>
            </a:r>
            <a:r>
              <a:rPr lang="zh-CN" altLang="en-US" dirty="0" smtClean="0"/>
              <a:t>随机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百度上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说：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3213100"/>
            <a:ext cx="7379970" cy="25139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85" y="980440"/>
            <a:ext cx="6726555" cy="1774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" y="6021070"/>
            <a:ext cx="1722120" cy="4857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912350" y="5984875"/>
            <a:ext cx="18942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1.5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248951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3. </a:t>
            </a:r>
            <a:r>
              <a:rPr lang="zh-CN" altLang="en-US" dirty="0" smtClean="0"/>
              <a:t>让随机数符合统计规律</a:t>
            </a:r>
            <a:r>
              <a:rPr lang="en-US" altLang="zh-CN" dirty="0" smtClean="0"/>
              <a:t>--</a:t>
            </a:r>
            <a:r>
              <a:rPr lang="zh-CN" altLang="en-US" dirty="0" smtClean="0"/>
              <a:t>从文献中找分布</a:t>
            </a:r>
            <a:r>
              <a:rPr lang="zh-CN" altLang="en-US" dirty="0" smtClean="0"/>
              <a:t>特征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2118995"/>
          </a:xfrm>
        </p:spPr>
        <p:txBody>
          <a:bodyPr/>
          <a:lstStyle/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查文献找出我国高血压病人的正态分布参数：均值、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方差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kumimoji="0" lang="zh-CN" altLang="en-US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校园网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数字图书馆进行文献检索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lib.cqu.edu.cn</a:t>
            </a:r>
            <a:endParaRPr kumimoji="0" lang="en-US" altLang="zh-CN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>
          <a:xfrm>
            <a:off x="551815" y="5805170"/>
            <a:ext cx="10820400" cy="7194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en-US" altLang="zh-CN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" y="3213100"/>
            <a:ext cx="7606030" cy="3481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40" y="3933190"/>
            <a:ext cx="8845550" cy="2649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</a:t>
            </a:r>
            <a:r>
              <a:rPr lang="zh-CN" altLang="en-US" dirty="0" smtClean="0">
                <a:sym typeface="+mn-ea"/>
              </a:rPr>
              <a:t>让随机数符合统计规律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从文献中找分布特征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480800" cy="5554980"/>
          </a:xfrm>
        </p:spPr>
        <p:txBody>
          <a:bodyPr/>
          <a:lstStyle/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CNKI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：查中文期刊论文、硕士和博士学位论文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of Science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：查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SCI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论文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ScienceDirect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：查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Elsevier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出版社自建数据库，与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wos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有重复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Engineering Village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：查会议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论文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博士毕业：高水平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SCI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论文，如：中科院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CCF-A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JCR-1</a:t>
            </a:r>
            <a:endParaRPr kumimoji="0" lang="en-US" altLang="zh-CN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endParaRPr kumimoji="0" lang="en-US" altLang="zh-CN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最佳实践：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从中文学位论文、顶级学报综述入手，以参考文献展开，将注意力集中到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顶刊顶会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</a:t>
            </a:r>
            <a:r>
              <a:rPr lang="zh-CN" altLang="en-US" dirty="0" smtClean="0">
                <a:sym typeface="+mn-ea"/>
              </a:rPr>
              <a:t>让随机数符合统计规律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如何查看数据</a:t>
            </a:r>
            <a:r>
              <a:rPr lang="zh-CN" altLang="en-US" dirty="0" smtClean="0">
                <a:sym typeface="+mn-ea"/>
              </a:rPr>
              <a:t>分布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150" y="1052830"/>
            <a:ext cx="5945505" cy="5608320"/>
          </a:xfrm>
        </p:spPr>
        <p:txBody>
          <a:bodyPr/>
          <a:lstStyle/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numpy.histogram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统计落在同一个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中的数据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量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matplotlib.pyplot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画图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画图比较：生成的模拟血压统计特征与文献描述的有多大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差距？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也可以在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Excel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中画图进行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0" y="1196340"/>
            <a:ext cx="5777865" cy="48774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912350" y="6165215"/>
            <a:ext cx="18942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【例1.6】</a:t>
            </a:r>
            <a:endParaRPr lang="zh-CN" altLang="en-US" sz="2800" b="1" kern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313531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4. </a:t>
            </a:r>
            <a:r>
              <a:rPr lang="zh-CN" altLang="en-US" dirty="0" smtClean="0">
                <a:sym typeface="+mn-ea"/>
              </a:rPr>
              <a:t>将结果和日志写入文件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读写</a:t>
            </a:r>
            <a:r>
              <a:rPr lang="zh-CN" altLang="en-US" dirty="0" smtClean="0">
                <a:sym typeface="+mn-ea"/>
              </a:rPr>
              <a:t>文本文件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72985" y="1052830"/>
            <a:ext cx="4752975" cy="5566410"/>
          </a:xfrm>
        </p:spPr>
        <p:txBody>
          <a:bodyPr/>
          <a:lstStyle/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打开后要关闭，但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with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方式可自动关闭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文本文件存的是字符对应的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编码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二进制文件存的是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应该存什么样的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文件？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 algn="l" eaLnBrk="1" latinLnBrk="0" hangingPunct="1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None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优先考虑可自解释的文本文件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196340"/>
            <a:ext cx="6755130" cy="47009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5897245"/>
            <a:ext cx="2101215" cy="8788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31765" y="6236970"/>
            <a:ext cx="17976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1.7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4. 将结果和日志写入文件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读写</a:t>
            </a:r>
            <a:r>
              <a:rPr lang="en-US" altLang="zh-CN" dirty="0" smtClean="0">
                <a:sym typeface="+mn-ea"/>
              </a:rPr>
              <a:t>json</a:t>
            </a:r>
            <a:r>
              <a:rPr lang="zh-CN" altLang="en-US" dirty="0" smtClean="0">
                <a:sym typeface="+mn-ea"/>
              </a:rPr>
              <a:t>文件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76765" y="1052830"/>
            <a:ext cx="2365375" cy="465645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en-US" altLang="zh-CN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json</a:t>
            </a: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是目前数据交换的主流方式：结构化的文本文件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https://docs.python.org/3/library/json.html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1052830"/>
            <a:ext cx="9532620" cy="3682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" y="4796790"/>
            <a:ext cx="9532620" cy="19837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28885" y="6236970"/>
            <a:ext cx="17976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1.8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4. 将结果和日志写入文件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写入</a:t>
            </a:r>
            <a:r>
              <a:rPr lang="en-US" altLang="zh-CN" dirty="0" smtClean="0">
                <a:sym typeface="+mn-ea"/>
              </a:rPr>
              <a:t>Excel</a:t>
            </a:r>
            <a:r>
              <a:rPr lang="zh-CN" altLang="en-US" dirty="0" smtClean="0">
                <a:sym typeface="+mn-ea"/>
              </a:rPr>
              <a:t>文件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3525" y="4941570"/>
            <a:ext cx="11622405" cy="5608320"/>
          </a:xfrm>
        </p:spPr>
        <p:txBody>
          <a:bodyPr/>
          <a:lstStyle/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写入</a:t>
            </a:r>
            <a:r>
              <a:rPr kumimoji="0" lang="en-US" altLang="zh-CN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Excel</a:t>
            </a: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文件，方便使用工具作图和分析（也可以是逗号分割的</a:t>
            </a:r>
            <a:r>
              <a:rPr kumimoji="0" lang="en-US" altLang="zh-CN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csv</a:t>
            </a: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文件）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https://pandas.pydata.org/docs/reference/io.html#excel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5550" y="836930"/>
            <a:ext cx="1910080" cy="4180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28885" y="6236970"/>
            <a:ext cx="17976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1.9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" y="765810"/>
            <a:ext cx="7336155" cy="4367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4. 将结果和日志写入文件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写</a:t>
            </a:r>
            <a:r>
              <a:rPr lang="zh-CN" altLang="en-US" dirty="0" smtClean="0">
                <a:sym typeface="+mn-ea"/>
              </a:rPr>
              <a:t>日志文件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1955" y="1052830"/>
            <a:ext cx="5390515" cy="5608320"/>
          </a:xfrm>
        </p:spPr>
        <p:txBody>
          <a:bodyPr/>
          <a:lstStyle/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日志用来记录系统运行状态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事件等级：</a:t>
            </a:r>
            <a:r>
              <a:rPr kumimoji="0" lang="en-US" altLang="zh-CN" sz="17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DEBUG&lt;INFO&lt;WARNING&lt;ERROR&lt;CRITICAL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en-US" altLang="zh-CN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通过调整事件等级来控制系统在不同阶段输出不同内容</a:t>
            </a:r>
            <a:endParaRPr kumimoji="0" lang="zh-CN" altLang="en-US" sz="240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908685"/>
            <a:ext cx="6064250" cy="54394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40595" y="5877560"/>
            <a:ext cx="2118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1.10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1775" y="639762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https://zhuanlan.zhihu.com/p/476549020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378110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多线程--</a:t>
            </a:r>
            <a:r>
              <a:rPr lang="zh-CN" altLang="en-US" dirty="0" smtClean="0">
                <a:sym typeface="+mn-ea"/>
              </a:rPr>
              <a:t>CPU时间片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如今的操作系统都是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多用户多任务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。用户可以同时听音乐、聊微信、编程、写报告。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eaLnBrk="1" hangingPunct="1">
              <a:buNone/>
            </a:pPr>
            <a:r>
              <a:rPr kumimoji="0" lang="zh-CN" altLang="en-US" sz="2400" b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（老师当学生的时代，解决死循环程序是需要</a:t>
            </a:r>
            <a:r>
              <a:rPr kumimoji="0" lang="zh-CN" altLang="en-US" sz="24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重启电脑</a:t>
            </a:r>
            <a:r>
              <a:rPr kumimoji="0" lang="zh-CN" altLang="en-US" sz="2400" b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的。</a:t>
            </a:r>
            <a:r>
              <a:rPr kumimoji="0" lang="en-US" altLang="zh-CN" sz="2400" b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</a:t>
            </a:r>
            <a:r>
              <a:rPr kumimoji="0" lang="zh-CN" altLang="en-US" sz="2400" b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kumimoji="0" lang="zh-CN" altLang="en-US" sz="24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处理多任务的能力来源于操作系统（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OS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）对</a:t>
            </a:r>
            <a:r>
              <a:rPr kumimoji="0" lang="en-US" altLang="zh-CN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时间片资源的管理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的超快运行速度，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OS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将其运行时间划分为一些时间片，分别分配给不同的任务。那么在一段时间范围内，这些任务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轮流使用</a:t>
            </a:r>
            <a:r>
              <a:rPr kumimoji="0" lang="en-US" altLang="zh-CN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，就好像自己独占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一样。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OS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的先进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调度算法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，确保了用户感觉不到这种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轮流使用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2170" y="1988820"/>
            <a:ext cx="535305" cy="572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多线程--CPU时间片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830" y="2060575"/>
            <a:ext cx="5171440" cy="10331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1955" y="2364740"/>
            <a:ext cx="13436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单核</a:t>
            </a:r>
            <a:r>
              <a:rPr lang="en-US" altLang="zh-CN"/>
              <a:t>CPU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3318510"/>
            <a:ext cx="5219700" cy="22250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71955" y="4148455"/>
            <a:ext cx="13436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双核</a:t>
            </a:r>
            <a:r>
              <a:rPr lang="en-US" altLang="zh-CN"/>
              <a:t>CPU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09930" y="3212465"/>
            <a:ext cx="10772140" cy="1333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ysDash"/>
            <a:miter lim="800000"/>
            <a:headEnd type="none" w="med" len="med"/>
            <a:tailEnd type="none" w="med" len="med"/>
          </a:ln>
        </p:spPr>
      </p:cxnSp>
      <p:sp>
        <p:nvSpPr>
          <p:cNvPr id="10" name="右大括号 9"/>
          <p:cNvSpPr/>
          <p:nvPr/>
        </p:nvSpPr>
        <p:spPr>
          <a:xfrm rot="5400000">
            <a:off x="6058535" y="3369310"/>
            <a:ext cx="577215" cy="5088255"/>
          </a:xfrm>
          <a:prstGeom prst="rightBrac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69965" y="6236970"/>
            <a:ext cx="5187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1S</a:t>
            </a:r>
            <a:endParaRPr lang="en-US"/>
          </a:p>
        </p:txBody>
      </p:sp>
      <p:sp>
        <p:nvSpPr>
          <p:cNvPr id="13" name="文本框 12"/>
          <p:cNvSpPr txBox="1"/>
          <p:nvPr/>
        </p:nvSpPr>
        <p:spPr>
          <a:xfrm>
            <a:off x="767715" y="1265555"/>
            <a:ext cx="5599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Clr>
                <a:srgbClr val="333399"/>
              </a:buClr>
              <a:buSzPct val="60000"/>
              <a:buFont typeface="Wingdings" panose="05000000000000000000" charset="0"/>
              <a:buChar char="n"/>
            </a:pPr>
            <a:r>
              <a:rPr lang="zh-CN" altLang="en-US" sz="2800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多任务轮流使用CPU时间片</a:t>
            </a:r>
            <a:endParaRPr lang="zh-CN" altLang="en-US" sz="2800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845" y="6450965"/>
            <a:ext cx="228600" cy="2286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575" y="6450965"/>
            <a:ext cx="228600" cy="2286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210" y="6450965"/>
            <a:ext cx="228600" cy="2286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9785" y="6450965"/>
            <a:ext cx="228600" cy="2286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741285" y="6353810"/>
            <a:ext cx="821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Task1</a:t>
            </a:r>
            <a:endParaRPr lang="en-US" sz="2000"/>
          </a:p>
        </p:txBody>
      </p:sp>
      <p:sp>
        <p:nvSpPr>
          <p:cNvPr id="19" name="文本框 18"/>
          <p:cNvSpPr txBox="1"/>
          <p:nvPr/>
        </p:nvSpPr>
        <p:spPr>
          <a:xfrm>
            <a:off x="8893810" y="6353810"/>
            <a:ext cx="821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Task2</a:t>
            </a:r>
            <a:endParaRPr lang="en-US" sz="2000"/>
          </a:p>
        </p:txBody>
      </p:sp>
      <p:sp>
        <p:nvSpPr>
          <p:cNvPr id="20" name="文本框 19"/>
          <p:cNvSpPr txBox="1"/>
          <p:nvPr/>
        </p:nvSpPr>
        <p:spPr>
          <a:xfrm>
            <a:off x="10036175" y="6353810"/>
            <a:ext cx="821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Task3</a:t>
            </a:r>
            <a:endParaRPr lang="en-US" sz="2000"/>
          </a:p>
        </p:txBody>
      </p:sp>
      <p:sp>
        <p:nvSpPr>
          <p:cNvPr id="21" name="文本框 20"/>
          <p:cNvSpPr txBox="1"/>
          <p:nvPr/>
        </p:nvSpPr>
        <p:spPr>
          <a:xfrm>
            <a:off x="11208385" y="6337300"/>
            <a:ext cx="821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Task4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多线程--线程的状态</a:t>
            </a:r>
            <a:r>
              <a:rPr lang="zh-CN" altLang="en-US" dirty="0" smtClean="0">
                <a:sym typeface="+mn-ea"/>
              </a:rPr>
              <a:t>及其转换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55370" y="1845310"/>
            <a:ext cx="1263650" cy="160591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59785" y="1629410"/>
            <a:ext cx="157797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基本状态</a:t>
            </a:r>
            <a:endParaRPr lang="zh-CN" altLang="en-US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2" name="直接箭头连接符 11"/>
          <p:cNvCxnSpPr>
            <a:endCxn id="10" idx="1"/>
          </p:cNvCxnSpPr>
          <p:nvPr/>
        </p:nvCxnSpPr>
        <p:spPr>
          <a:xfrm flipV="1">
            <a:off x="2158551" y="1828561"/>
            <a:ext cx="1201420" cy="1733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F35B0BEE-F18A-47BB-8FCB-E00DA2F2635D-1" descr="C:/Users/chenh/AppData/Local/Temp/wpp.oFOZaBwpp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63709" y="3789187"/>
            <a:ext cx="7913370" cy="3672698"/>
          </a:xfrm>
          <a:prstGeom prst="rect">
            <a:avLst/>
          </a:prstGeom>
        </p:spPr>
      </p:pic>
      <p:sp>
        <p:nvSpPr>
          <p:cNvPr id="14" name="Rectangle 3"/>
          <p:cNvSpPr>
            <a:spLocks noGrp="1"/>
          </p:cNvSpPr>
          <p:nvPr>
            <p:ph idx="1"/>
          </p:nvPr>
        </p:nvSpPr>
        <p:spPr>
          <a:xfrm>
            <a:off x="407670" y="1124585"/>
            <a:ext cx="11480800" cy="557974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线程的状态及其转换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7715" y="1845310"/>
            <a:ext cx="11224895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342900" lvl="0" indent="-342900" algn="l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运行态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线程占有处理器，正在执行。</a:t>
            </a:r>
            <a:endParaRPr lang="zh-CN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 algn="l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阻塞态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程等待某个事件的发生。</a:t>
            </a:r>
            <a:endParaRPr lang="zh-CN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 algn="l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就绪态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：具备执行的所有条件，等待系统分配处理器后执行。</a:t>
            </a:r>
            <a:endParaRPr lang="zh-CN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 algn="l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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初始态：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程刚被创建时，处于初始状态，但还未加载到内存中。</a:t>
            </a:r>
            <a:endParaRPr lang="zh-CN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 algn="l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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终止态：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程执行结束或被取消，但其PCB等信息还未释放。</a:t>
            </a:r>
            <a:endParaRPr lang="zh-CN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endParaRPr lang="zh-CN" altLang="zh-CN" kern="100" dirty="0">
              <a:solidFill>
                <a:srgbClr val="003A8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endParaRPr lang="zh-CN" altLang="zh-CN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多线程--进程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前面所述的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任务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kumimoji="0" lang="en-US" alt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OS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中称之为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进程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sz="2800" b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Process</a:t>
            </a:r>
            <a:r>
              <a:rPr kumimoji="0" lang="zh-CN" altLang="en-US" sz="2800" b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r>
              <a:rPr kumimoji="0" lang="zh-CN" altLang="en-US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进程的定义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325" y="2635885"/>
            <a:ext cx="1122489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程序的一次执行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正在运行的程序的一个实例；</a:t>
            </a:r>
            <a:endParaRPr lang="zh-CN" altLang="zh-CN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可以分配给处理器并由处理器执行的一个实体；</a:t>
            </a:r>
            <a:endParaRPr lang="zh-CN" altLang="zh-CN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是程序在一个数据集合上的运行过程，</a:t>
            </a: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OS</a:t>
            </a: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进行资源分配和调度的独立单位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11555" y="4723765"/>
          <a:ext cx="10227310" cy="1823085"/>
        </p:xfrm>
        <a:graphic>
          <a:graphicData uri="http://schemas.openxmlformats.org/drawingml/2006/table">
            <a:tbl>
              <a:tblPr firstRow="1" bandRow="1"/>
              <a:tblGrid>
                <a:gridCol w="4987290"/>
                <a:gridCol w="5240020"/>
              </a:tblGrid>
              <a:tr h="441325">
                <a:tc>
                  <a:txBody>
                    <a:bodyPr/>
                    <a:p>
                      <a:pPr algn="ctr"/>
                      <a:r>
                        <a:rPr lang="zh-CN" altLang="en-US" b="1" dirty="0">
                          <a:solidFill>
                            <a:srgbClr val="FFFFFF"/>
                          </a:solidFill>
                        </a:rPr>
                        <a:t>程序</a:t>
                      </a:r>
                      <a:endParaRPr lang="zh-CN" alt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b="1" dirty="0">
                          <a:solidFill>
                            <a:srgbClr val="FFFFFF"/>
                          </a:solidFill>
                        </a:rPr>
                        <a:t>进程</a:t>
                      </a:r>
                      <a:endParaRPr lang="zh-CN" alt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4C3C"/>
                    </a:solidFill>
                  </a:tcPr>
                </a:tc>
              </a:tr>
              <a:tr h="455295">
                <a:tc>
                  <a:txBody>
                    <a:bodyPr/>
                    <a:p>
                      <a:r>
                        <a:rPr lang="zh-CN" altLang="zh-CN" sz="1800" b="1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静态的实体，指令的集合（类比：火车、飞机）</a:t>
                      </a:r>
                      <a:endParaRPr lang="zh-CN" altLang="zh-CN" sz="1800" b="1" kern="1200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zh-CN" sz="1800" b="1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动态的实体，有生命期（</a:t>
                      </a:r>
                      <a:r>
                        <a:rPr lang="zh-CN" altLang="zh-CN" sz="1800" b="1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类比：</a:t>
                      </a:r>
                      <a:r>
                        <a:rPr lang="zh-CN" altLang="zh-CN" sz="1800" b="1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列车、航班）</a:t>
                      </a:r>
                      <a:endParaRPr lang="zh-CN" altLang="zh-CN" sz="1800" b="1" kern="1200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p>
                      <a:r>
                        <a:rPr lang="zh-CN" altLang="en-US" b="1" dirty="0">
                          <a:solidFill>
                            <a:srgbClr val="40404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无并发性</a:t>
                      </a:r>
                      <a:endParaRPr lang="zh-CN" altLang="en-US" b="1" dirty="0">
                        <a:solidFill>
                          <a:srgbClr val="40404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 i="0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进程具有</a:t>
                      </a:r>
                      <a:r>
                        <a:rPr lang="zh-CN" altLang="en-US" sz="1800" b="1" i="0" u="none" strike="noStrike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并发性</a:t>
                      </a:r>
                      <a:r>
                        <a:rPr lang="en-US" altLang="zh-CN" sz="1800" b="1" i="0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,</a:t>
                      </a:r>
                      <a:r>
                        <a:rPr lang="zh-CN" altLang="en-US" sz="1800" b="1" i="0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能与其它进程并发运行</a:t>
                      </a:r>
                      <a:endParaRPr lang="zh-CN" altLang="en-US" sz="1800" b="1" i="0" kern="1200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r>
                        <a:rPr lang="zh-CN" altLang="zh-CN" sz="1800" b="1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没有建立进程的程序不能运行</a:t>
                      </a:r>
                      <a:r>
                        <a:rPr lang="en-US" altLang="zh-CN" sz="1800" b="1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en-US" altLang="zh-CN" sz="1800" b="1" kern="1200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rgbClr val="E74C3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zh-CN" sz="1800" b="1" kern="1200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进程具有独立性，是一个能独立运行的基本单位</a:t>
                      </a:r>
                      <a:endParaRPr lang="zh-CN" altLang="zh-CN" sz="1800" b="1" kern="1200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74C3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多线程--进程与线程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  <a:sym typeface="+mn-ea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（Thread）是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OS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能够进行</a:t>
            </a:r>
            <a:r>
              <a:rPr kumimoji="0" lang="zh-CN" altLang="en-US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运算调度的最小单位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。它被包含在进程之中，是进程中的实际运作单位。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线程是一个可以独立执行和调度的基本单位，但</a:t>
            </a:r>
            <a:r>
              <a:rPr kumimoji="0" lang="zh-CN" altLang="en-US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不是拥有资源的独立单位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。它可与同属一个进程的线程共享该进程拥有的所有资源。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线程又被称为轻型进程，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传统的进程等效于只有一个线程的进程，进程的状态就是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线程的状态。</a:t>
            </a:r>
            <a:endParaRPr kumimoji="0" lang="zh-CN" altLang="en-US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eaLnBrk="1" hangingPunct="1"/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多线程--</a:t>
            </a:r>
            <a:r>
              <a:rPr lang="zh-CN" altLang="en-US" dirty="0" smtClean="0">
                <a:sym typeface="+mn-ea"/>
              </a:rPr>
              <a:t>并发与并行</a:t>
            </a:r>
            <a:endParaRPr kumimoji="1" lang="zh-CN" altLang="en-US" sz="3200" b="1" i="0" u="none" strike="noStrike" kern="0" cap="none" spc="0" normalizeH="0" baseline="0" dirty="0" smtClean="0">
              <a:solidFill>
                <a:schemeClr val="tx2"/>
              </a:solidFill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69405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lnSpc>
                <a:spcPts val="4000"/>
              </a:lnSpc>
              <a:spcBef>
                <a:spcPts val="0"/>
              </a:spcBef>
            </a:pPr>
            <a:r>
              <a:rPr kumimoji="0" lang="zh-CN" sz="28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程序的并行执行：</a:t>
            </a:r>
            <a:r>
              <a:rPr kumimoji="0" lang="zh-CN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同一个时间</a:t>
            </a:r>
            <a:r>
              <a:rPr kumimoji="0" lang="zh-CN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</a:t>
            </a:r>
            <a:r>
              <a:rPr kumimoji="0" lang="zh-CN" sz="2800" b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有多个程序运行</a:t>
            </a:r>
            <a:endParaRPr kumimoji="0" lang="zh-CN" sz="28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latinLnBrk="0">
              <a:lnSpc>
                <a:spcPts val="4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</a:t>
            </a:r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202102092240579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851025"/>
            <a:ext cx="5334000" cy="467868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6240145" y="1851025"/>
            <a:ext cx="5718810" cy="48094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>
              <a:lnSpc>
                <a:spcPts val="4000"/>
              </a:lnSpc>
              <a:spcBef>
                <a:spcPts val="1800"/>
              </a:spcBef>
              <a:buFont typeface="Wingdings" panose="05000000000000000000" charset="0"/>
              <a:buChar char="Ø"/>
            </a:pPr>
            <a:r>
              <a:rPr kumimoji="0" lang="en-US" altLang="zh-CN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</a:t>
            </a:r>
            <a:r>
              <a:rPr kumimoji="0" lang="zh-CN" altLang="en-US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在解释器层面有</a:t>
            </a:r>
            <a:r>
              <a:rPr kumimoji="0" lang="en-US" altLang="zh-CN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GIL</a:t>
            </a:r>
            <a:r>
              <a:rPr kumimoji="0" lang="zh-CN" altLang="en-US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Global Interpreter Lock</a:t>
            </a:r>
            <a:r>
              <a:rPr kumimoji="0" lang="zh-CN" altLang="en-US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，全局解释锁）的存在，不能实现并行，只能实现并发。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ts val="4000"/>
              </a:lnSpc>
              <a:spcBef>
                <a:spcPts val="1800"/>
              </a:spcBef>
              <a:buFont typeface="Wingdings" panose="05000000000000000000" charset="0"/>
              <a:buChar char="Ø"/>
            </a:pPr>
            <a:r>
              <a:rPr kumimoji="0" lang="zh-CN" altLang="en-US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从Python3.13(2024.10)版本开始，可以选择安装无GIL的解释器</a:t>
            </a:r>
            <a:endParaRPr kumimoji="0" lang="zh-CN" altLang="en-US" sz="24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ts val="4000"/>
              </a:lnSpc>
              <a:spcBef>
                <a:spcPts val="1800"/>
              </a:spcBef>
              <a:buFont typeface="Wingdings" panose="05000000000000000000" charset="0"/>
              <a:buChar char="Ø"/>
            </a:pPr>
            <a:r>
              <a:rPr kumimoji="0" lang="zh-CN" altLang="en-US" sz="2400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https://zhuanlan.zhihu.com/p/818043026</a:t>
            </a:r>
            <a:endParaRPr kumimoji="0" lang="zh-CN" altLang="en-US" sz="2400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</a:t>
            </a:r>
            <a:r>
              <a:rPr lang="en-US" altLang="zh-CN" dirty="0" smtClean="0">
                <a:sym typeface="+mn-ea"/>
              </a:rPr>
              <a:t>--Python</a:t>
            </a:r>
            <a:r>
              <a:rPr lang="zh-CN" altLang="en-US" dirty="0" smtClean="0">
                <a:sym typeface="+mn-ea"/>
              </a:rPr>
              <a:t>中如何使用</a:t>
            </a:r>
            <a:r>
              <a:rPr lang="zh-CN" altLang="en-US" dirty="0" smtClean="0">
                <a:sym typeface="+mn-ea"/>
              </a:rPr>
              <a:t>多线程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7427595" y="1052830"/>
            <a:ext cx="4420235" cy="5805170"/>
          </a:xfrm>
        </p:spPr>
        <p:txBody>
          <a:bodyPr/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数据模拟器中，每个线程模拟一个设备：产生数据和发送数据。一个应用使用</a:t>
            </a:r>
            <a:r>
              <a:rPr lang="en-US" altLang="zh-CN" sz="2400"/>
              <a:t>5</a:t>
            </a:r>
            <a:r>
              <a:rPr lang="zh-CN" altLang="en-US" sz="2400"/>
              <a:t>个</a:t>
            </a:r>
            <a:r>
              <a:rPr lang="zh-CN" altLang="en-US" sz="2400"/>
              <a:t>线程。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052830"/>
            <a:ext cx="6642735" cy="4668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5775325"/>
            <a:ext cx="2305050" cy="1000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9065" y="6165215"/>
            <a:ext cx="2118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1.11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</a:t>
            </a:r>
            <a:r>
              <a:rPr lang="en-US" altLang="zh-CN" dirty="0" smtClean="0">
                <a:sym typeface="+mn-ea"/>
              </a:rPr>
              <a:t>--Python</a:t>
            </a:r>
            <a:r>
              <a:rPr lang="zh-CN" altLang="en-US" dirty="0" smtClean="0">
                <a:sym typeface="+mn-ea"/>
              </a:rPr>
              <a:t>中如何使用</a:t>
            </a:r>
            <a:r>
              <a:rPr lang="zh-CN" altLang="en-US" dirty="0" smtClean="0">
                <a:sym typeface="+mn-ea"/>
              </a:rPr>
              <a:t>多线程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7427595" y="1052830"/>
            <a:ext cx="4420235" cy="5805170"/>
          </a:xfrm>
        </p:spPr>
        <p:txBody>
          <a:bodyPr/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1.12</a:t>
            </a:r>
            <a:r>
              <a:rPr lang="zh-CN" altLang="en-US" sz="2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r>
              <a:rPr lang="zh-CN" altLang="en-US" sz="2400">
                <a:sym typeface="+mn-ea"/>
              </a:rPr>
              <a:t>展示了使用多线程完成重CPU任务。</a:t>
            </a:r>
            <a:endParaRPr lang="zh-CN" altLang="en-US" sz="24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 sz="24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en-US" altLang="zh-CN" sz="2400">
                <a:sym typeface="+mn-ea"/>
              </a:rPr>
              <a:t>Python</a:t>
            </a:r>
            <a:r>
              <a:rPr lang="zh-CN" altLang="en-US" sz="2400">
                <a:sym typeface="+mn-ea"/>
              </a:rPr>
              <a:t>的强项是做数据处理，多线程并不是它的强项。</a:t>
            </a:r>
            <a:endParaRPr lang="zh-CN" altLang="en-US" sz="2400"/>
          </a:p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 sz="2400"/>
          </a:p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>
                <a:sym typeface="+mn-ea"/>
              </a:rPr>
              <a:t>只有在大量</a:t>
            </a:r>
            <a:r>
              <a:rPr lang="en-US" altLang="zh-CN" sz="2400">
                <a:sym typeface="+mn-ea"/>
              </a:rPr>
              <a:t>IO</a:t>
            </a:r>
            <a:r>
              <a:rPr lang="zh-CN" altLang="en-US" sz="2400">
                <a:sym typeface="+mn-ea"/>
              </a:rPr>
              <a:t>操作，线程需要等待响应时，多线程才能发挥威力。</a:t>
            </a:r>
            <a:endParaRPr lang="zh-CN" altLang="en-US" sz="2400"/>
          </a:p>
          <a:p>
            <a:pPr latinLnBrk="0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 sz="24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" y="1052830"/>
            <a:ext cx="7187565" cy="5751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互斥</a:t>
            </a:r>
            <a:r>
              <a:rPr lang="zh-CN" altLang="en-US" dirty="0" smtClean="0">
                <a:sym typeface="+mn-ea"/>
              </a:rPr>
              <a:t>问题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7464425" y="1052830"/>
            <a:ext cx="4444365" cy="5718175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这是典型的</a:t>
            </a:r>
            <a:r>
              <a:rPr lang="en-US" altLang="zh-CN" sz="2400"/>
              <a:t>“</a:t>
            </a:r>
            <a:r>
              <a:rPr lang="zh-CN" altLang="en-US" sz="2400"/>
              <a:t>一票多卖</a:t>
            </a:r>
            <a:r>
              <a:rPr lang="en-US" altLang="zh-CN" sz="2400"/>
              <a:t>”</a:t>
            </a:r>
            <a:r>
              <a:rPr lang="zh-CN" altLang="en-US" sz="2400"/>
              <a:t>的问题</a:t>
            </a:r>
            <a:endParaRPr lang="zh-CN" altLang="en-US" sz="24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本质问题：</a:t>
            </a:r>
            <a:r>
              <a:rPr lang="zh-CN" altLang="en-US" sz="2400">
                <a:solidFill>
                  <a:srgbClr val="FF0000"/>
                </a:solidFill>
              </a:rPr>
              <a:t>操作共享资源的代码被打断</a:t>
            </a:r>
            <a:r>
              <a:rPr lang="zh-CN" altLang="en-US" sz="2400"/>
              <a:t>执行过程，导致逻辑混乱</a:t>
            </a:r>
            <a:endParaRPr lang="zh-CN" altLang="en-US" sz="24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操作共享资源的代码段叫做临界区</a:t>
            </a:r>
            <a:endParaRPr lang="zh-CN" altLang="en-US" sz="24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解决办法就是让临界区代码具有</a:t>
            </a:r>
            <a:r>
              <a:rPr lang="zh-CN" altLang="en-US" sz="2400">
                <a:solidFill>
                  <a:srgbClr val="FF0000"/>
                </a:solidFill>
              </a:rPr>
              <a:t>原子性</a:t>
            </a:r>
            <a:r>
              <a:rPr lang="zh-CN" altLang="en-US" sz="2400"/>
              <a:t>，要么不执行，要么</a:t>
            </a:r>
            <a:r>
              <a:rPr lang="zh-CN" altLang="en-US" sz="2400"/>
              <a:t>一次性执行完成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5882005"/>
            <a:ext cx="2552700" cy="889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981075"/>
            <a:ext cx="7103110" cy="47104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9065" y="6165215"/>
            <a:ext cx="2118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1.13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互斥</a:t>
            </a:r>
            <a:r>
              <a:rPr lang="zh-CN" altLang="en-US" dirty="0" smtClean="0">
                <a:sym typeface="+mn-ea"/>
              </a:rPr>
              <a:t>问题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7680325" y="1052830"/>
            <a:ext cx="4444365" cy="5718175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使用给临界区加锁的办法实现原子性。</a:t>
            </a:r>
            <a:endParaRPr lang="zh-CN" altLang="en-US" sz="24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锁也是共享资源，拿到就能进入临界区执行，否则就被阻塞。</a:t>
            </a:r>
            <a:endParaRPr lang="zh-CN" altLang="en-US" sz="24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/>
              <a:t>加锁机制使得访问共享资源的线程之间具有</a:t>
            </a:r>
            <a:r>
              <a:rPr lang="zh-CN" altLang="en-US" sz="2400">
                <a:solidFill>
                  <a:srgbClr val="FF0000"/>
                </a:solidFill>
              </a:rPr>
              <a:t>互斥性</a:t>
            </a:r>
            <a:r>
              <a:rPr lang="zh-CN" altLang="en-US" sz="2400"/>
              <a:t>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196975"/>
            <a:ext cx="7502525" cy="42202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9065" y="6165215"/>
            <a:ext cx="2118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1.14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5807710"/>
            <a:ext cx="3307080" cy="92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死锁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406400" y="1156335"/>
            <a:ext cx="11480800" cy="779780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死锁是指两个或多个</a:t>
            </a:r>
            <a:r>
              <a:rPr lang="zh-CN" altLang="en-US"/>
              <a:t>线程在执行过程中，由于竞争资源或彼此通信而造成的一种阻塞现象，导致这些进程无法继续推进，系统处于死锁状态</a:t>
            </a:r>
            <a:r>
              <a:rPr lang="en-US" altLang="zh-CN"/>
              <a:t>‌</a:t>
            </a:r>
            <a:r>
              <a:rPr lang="zh-CN" altLang="en-US"/>
              <a:t>。</a:t>
            </a:r>
            <a:r>
              <a:rPr lang="en-US" altLang="zh-CN"/>
              <a:t>‌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15" y="3141345"/>
            <a:ext cx="3962400" cy="3063875"/>
          </a:xfrm>
          <a:prstGeom prst="rect">
            <a:avLst/>
          </a:prstGeom>
        </p:spPr>
      </p:pic>
      <p:pic>
        <p:nvPicPr>
          <p:cNvPr id="6" name="图片 5" descr="20190818184758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87845" y="2708910"/>
            <a:ext cx="4541520" cy="3680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. 多线程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同步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406400" y="1156335"/>
            <a:ext cx="11480800" cy="779780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多线程的执行顺序不可预知，是操作系统算法决定的。而同步</a:t>
            </a:r>
            <a:r>
              <a:rPr lang="zh-CN" altLang="en-US"/>
              <a:t>则是指将多线程按照指定的逻辑顺序依次执行。</a:t>
            </a:r>
            <a:endParaRPr lang="zh-CN" altLang="en-US"/>
          </a:p>
        </p:txBody>
      </p:sp>
      <p:graphicFrame>
        <p:nvGraphicFramePr>
          <p:cNvPr id="3" name="对象 2"/>
          <p:cNvGraphicFramePr/>
          <p:nvPr/>
        </p:nvGraphicFramePr>
        <p:xfrm>
          <a:off x="4511675" y="2540000"/>
          <a:ext cx="3148330" cy="4093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2125980" imgH="3261360" progId="Visio.Drawing.15">
                  <p:embed/>
                </p:oleObj>
              </mc:Choice>
              <mc:Fallback>
                <p:oleObj name="" r:id="rId1" imgW="2125980" imgH="3261360" progId="Visio.Drawing.15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675" y="2540000"/>
                        <a:ext cx="3148330" cy="4093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/>
        </p:nvSpPr>
        <p:spPr>
          <a:xfrm>
            <a:off x="1672167" y="231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dirty="0" smtClean="0">
                <a:sym typeface="+mn-ea"/>
              </a:rPr>
              <a:t>第一周任务</a:t>
            </a:r>
            <a:endParaRPr lang="zh-CN" dirty="0" smtClean="0">
              <a:sym typeface="+mn-ea"/>
            </a:endParaRPr>
          </a:p>
        </p:txBody>
      </p:sp>
      <p:sp>
        <p:nvSpPr>
          <p:cNvPr id="4" name="文本占位符 1"/>
          <p:cNvSpPr/>
          <p:nvPr/>
        </p:nvSpPr>
        <p:spPr>
          <a:xfrm>
            <a:off x="407035" y="1268095"/>
            <a:ext cx="11480800" cy="5318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组队，填写到在线文档中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选定</a:t>
            </a:r>
            <a:r>
              <a:rPr lang="en-US" altLang="zh-CN"/>
              <a:t>C</a:t>
            </a:r>
            <a:r>
              <a:rPr lang="zh-CN" altLang="en-US"/>
              <a:t>端硬件产品，做</a:t>
            </a:r>
            <a:r>
              <a:rPr lang="en-US" altLang="zh-CN"/>
              <a:t>1~3</a:t>
            </a:r>
            <a:r>
              <a:rPr lang="zh-CN" altLang="en-US"/>
              <a:t>页</a:t>
            </a:r>
            <a:r>
              <a:rPr lang="en-US" altLang="zh-CN"/>
              <a:t>PPT</a:t>
            </a:r>
            <a:r>
              <a:rPr lang="zh-CN" altLang="en-US"/>
              <a:t>，阐述设备名称、主要功能、数据传输内容，下周四之前发给助教老师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完成</a:t>
            </a:r>
            <a:r>
              <a:rPr lang="en-US" altLang="zh-CN"/>
              <a:t>C</a:t>
            </a:r>
            <a:r>
              <a:rPr lang="zh-CN" altLang="en-US"/>
              <a:t>端产品模拟器初步功能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如有必要，强化</a:t>
            </a:r>
            <a:r>
              <a:rPr lang="en-US" altLang="zh-CN"/>
              <a:t>Python</a:t>
            </a:r>
            <a:r>
              <a:rPr lang="zh-CN" altLang="en-US"/>
              <a:t>能力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442690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6</a:t>
            </a:r>
            <a:r>
              <a:rPr lang="zh-CN" altLang="en-US" dirty="0" smtClean="0">
                <a:sym typeface="+mn-ea"/>
              </a:rPr>
              <a:t>. GUI界面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406400" y="1156335"/>
            <a:ext cx="11480800" cy="5410835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3200"/>
              <a:t>为模拟器添加GUI界面，以方便配置和监控</a:t>
            </a:r>
            <a:endParaRPr lang="zh-CN" altLang="en-US" sz="32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 sz="32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3200"/>
              <a:t>通常，软件系统的显示与逻辑功能</a:t>
            </a:r>
            <a:r>
              <a:rPr lang="zh-CN" altLang="en-US" sz="3200"/>
              <a:t>是分离的，窗口只是一个外壳</a:t>
            </a:r>
            <a:r>
              <a:rPr lang="en-US" altLang="zh-CN" sz="3200"/>
              <a:t>shell</a:t>
            </a:r>
            <a:r>
              <a:rPr lang="zh-CN" altLang="en-US" sz="3200"/>
              <a:t>，内在的核心功能单独作为一个模块</a:t>
            </a:r>
            <a:endParaRPr lang="zh-CN" altLang="en-US" sz="32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en-US" altLang="zh-CN" sz="3200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en-US" altLang="zh-CN" sz="3200"/>
              <a:t>Python</a:t>
            </a:r>
            <a:r>
              <a:rPr lang="zh-CN" altLang="en-US" sz="3200"/>
              <a:t>可以用来做窗口的包有很多：</a:t>
            </a:r>
            <a:r>
              <a:rPr lang="en-US" altLang="zh-CN" sz="3200"/>
              <a:t>Tkinter</a:t>
            </a:r>
            <a:r>
              <a:rPr lang="zh-CN" altLang="en-US" sz="3200"/>
              <a:t>、</a:t>
            </a:r>
            <a:r>
              <a:rPr lang="en-US" altLang="zh-CN" sz="3200"/>
              <a:t>PyQt</a:t>
            </a:r>
            <a:r>
              <a:rPr lang="zh-CN" altLang="en-US" sz="3200"/>
              <a:t>、</a:t>
            </a:r>
            <a:r>
              <a:rPr lang="en-US" altLang="zh-CN" sz="3200"/>
              <a:t>wxPython</a:t>
            </a:r>
            <a:r>
              <a:rPr lang="zh-CN" altLang="en-US" sz="3200"/>
              <a:t>、</a:t>
            </a:r>
            <a:r>
              <a:rPr lang="en-US" altLang="zh-CN" sz="3200"/>
              <a:t>Kivy</a:t>
            </a:r>
            <a:r>
              <a:rPr lang="zh-CN" altLang="en-US" sz="3200"/>
              <a:t>、</a:t>
            </a:r>
            <a:r>
              <a:rPr lang="en-US" altLang="zh-CN" sz="3200"/>
              <a:t>Pygame</a:t>
            </a:r>
            <a:endParaRPr lang="en-US" altLang="zh-CN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6</a:t>
            </a:r>
            <a:r>
              <a:rPr lang="zh-CN" altLang="en-US" dirty="0" smtClean="0">
                <a:sym typeface="+mn-ea"/>
              </a:rPr>
              <a:t>. GUI界面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3365500" y="6236970"/>
            <a:ext cx="4883785" cy="661670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/>
              <a:t>使用</a:t>
            </a:r>
            <a:r>
              <a:rPr lang="en-US" altLang="zh-CN"/>
              <a:t>Tkinter</a:t>
            </a:r>
            <a:r>
              <a:rPr lang="zh-CN" altLang="en-US"/>
              <a:t>实现的GUI界面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975" y="1124585"/>
            <a:ext cx="3887470" cy="5255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5783.776377952756,&quot;width&quot;:12467.751181102361}"/>
</p:tagLst>
</file>

<file path=ppt/tags/tag2.xml><?xml version="1.0" encoding="utf-8"?>
<p:tagLst xmlns:p="http://schemas.openxmlformats.org/presentationml/2006/main">
  <p:tag name="KSO_WM_UNIT_TABLE_BEAUTIFY" val="smartTable{2ec68c0b-3454-4df2-b030-f33f11986f81}"/>
  <p:tag name="TABLE_EMPHASIZE_COLOR" val="15158332"/>
  <p:tag name="TABLE_SKINIDX" val="1"/>
  <p:tag name="TABLE_COLORIDX" val="10"/>
  <p:tag name="TABLE_COLOR_RGB" val="0x000000*0xFFFFFF*0x212121*0xFFFFFF*0xe74c3c*0xf89406*0xf7b619*0xc0ca33*0x7cb342*0x009688"/>
  <p:tag name="TABLE_ENDDRAG_ORIGIN_RECT" val="805*153"/>
  <p:tag name="TABLE_ENDDRAG_RECT" val="79*371*805*153"/>
</p:tagLst>
</file>

<file path=ppt/tags/tag3.xml><?xml version="1.0" encoding="utf-8"?>
<p:tagLst xmlns:p="http://schemas.openxmlformats.org/presentationml/2006/main">
  <p:tag name="KSO_WM_UNIT_PLACING_PICTURE_USER_VIEWPORT" val="{&quot;height&quot;:5796,&quot;width&quot;:7152}"/>
</p:tagLst>
</file>

<file path=ppt/tags/tag5.xml><?xml version="1.0" encoding="utf-8"?>
<p:tagLst xmlns:p="http://schemas.openxmlformats.org/presentationml/2006/main">
  <p:tag name="KSO_WPP_MARK_KEY" val="1d57c892-e6af-4e38-a903-68dadd506c7c"/>
  <p:tag name="COMMONDATA" val="eyJoZGlkIjoiODViY2JkMjU3NGYzZTEwMzZmMGFkZWViYmNkYWU3NDIifQ=="/>
  <p:tag name="commondata" val="eyJoZGlkIjoiNmVkODA1Mzg0NTk4NGJmNTJhNmI4OTFjZmZmYzhhNjMifQ=="/>
</p:tagLst>
</file>

<file path=ppt/theme/theme1.xml><?xml version="1.0" encoding="utf-8"?>
<a:theme xmlns:a="http://schemas.openxmlformats.org/drawingml/2006/main" name="程序设计技术课件模板">
  <a:themeElements>
    <a:clrScheme name="程序设计技术课件模板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程序设计技术课件模板">
      <a:majorFont>
        <a:latin typeface="Tahoma"/>
        <a:ea typeface="华文新魏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程序设计技术课件模板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JlOTkzZDY1ZC1mZDM5LTRkYWMtYjNkMy0xZGUzM2Q3ODg2MDUiCn0K"/>
    </extobj>
  </extobjs>
</s:customData>
</file>

<file path=customXml/itemProps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程序设计技术课件模板</Template>
  <TotalTime>0</TotalTime>
  <Words>4351</Words>
  <Application>WPS 演示</Application>
  <PresentationFormat>宽屏</PresentationFormat>
  <Paragraphs>412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Arial</vt:lpstr>
      <vt:lpstr>宋体</vt:lpstr>
      <vt:lpstr>Wingdings</vt:lpstr>
      <vt:lpstr>Tahoma</vt:lpstr>
      <vt:lpstr>华文新魏</vt:lpstr>
      <vt:lpstr>仿宋_GB2312</vt:lpstr>
      <vt:lpstr>仿宋</vt:lpstr>
      <vt:lpstr>微软雅黑</vt:lpstr>
      <vt:lpstr>Wingdings</vt:lpstr>
      <vt:lpstr>Cambria Math</vt:lpstr>
      <vt:lpstr>Arial Unicode MS</vt:lpstr>
      <vt:lpstr>Calibri</vt:lpstr>
      <vt:lpstr>华文楷体</vt:lpstr>
      <vt:lpstr>仿宋_GB2312</vt:lpstr>
      <vt:lpstr>方正仿宋_GB2312</vt:lpstr>
      <vt:lpstr>程序设计技术课件模板</vt:lpstr>
      <vt:lpstr>Visio.Drawing.15</vt:lpstr>
      <vt:lpstr>《软件设计》 桌面应用：C端产品数据模拟器</vt:lpstr>
      <vt:lpstr>桌面应用：C端产品数据模拟器</vt:lpstr>
      <vt:lpstr>1. 任务要求</vt:lpstr>
      <vt:lpstr>1. 任务要求</vt:lpstr>
      <vt:lpstr>1. 任务要求</vt:lpstr>
      <vt:lpstr>桌面应用：C端产品数据模拟器</vt:lpstr>
      <vt:lpstr>2. 随机数--在计算机系统的应用</vt:lpstr>
      <vt:lpstr>2. 随机数--在计算机系统的应用</vt:lpstr>
      <vt:lpstr>2. 随机数--伪随机数原理</vt:lpstr>
      <vt:lpstr>2. 随机数--伪随机数原理</vt:lpstr>
      <vt:lpstr>2. 随机数--用Python产生随机数</vt:lpstr>
      <vt:lpstr>2. 随机数--用Python产生随机数</vt:lpstr>
      <vt:lpstr>2. 随机数--课堂练习</vt:lpstr>
      <vt:lpstr>2. 随机数--让血压数据随机</vt:lpstr>
      <vt:lpstr>桌面应用：C端产品数据模拟器</vt:lpstr>
      <vt:lpstr>3. 让随机数符合统计规律--从文献中找分布特征</vt:lpstr>
      <vt:lpstr>3. 让随机数符合统计规律--从文献中找分布特征</vt:lpstr>
      <vt:lpstr>3. 让随机数符合统计规律--如何查看数据分布</vt:lpstr>
      <vt:lpstr>桌面应用：C端产品数据模拟器</vt:lpstr>
      <vt:lpstr>4. 将结果和日志写入文件--读写文本文件</vt:lpstr>
      <vt:lpstr>4. 将结果和日志写入文件--读写json文件</vt:lpstr>
      <vt:lpstr>4. 将结果和日志写入文件--写入Excel文件</vt:lpstr>
      <vt:lpstr>4. 将结果和日志写入文件--写日志文件</vt:lpstr>
      <vt:lpstr>桌面应用：C端产品数据模拟器</vt:lpstr>
      <vt:lpstr>5. 多线程--CPU时间片</vt:lpstr>
      <vt:lpstr>5. 多线程--CPU时间片</vt:lpstr>
      <vt:lpstr>5. 多线程--线程的状态及其转换</vt:lpstr>
      <vt:lpstr>5. 多线程--进程</vt:lpstr>
      <vt:lpstr>5. 多线程--进程与线程</vt:lpstr>
      <vt:lpstr>5. 多线程--并发与并行</vt:lpstr>
      <vt:lpstr>5. 多线程--Python中如何使用多线程</vt:lpstr>
      <vt:lpstr>5. 多线程--Python中如何使用多线程</vt:lpstr>
      <vt:lpstr>5. 多线程--互斥问题</vt:lpstr>
      <vt:lpstr>5. 多线程--互斥问题</vt:lpstr>
      <vt:lpstr>5. 多线程--死锁</vt:lpstr>
      <vt:lpstr>5. 多线程--同步</vt:lpstr>
      <vt:lpstr>PowerPoint 演示文稿</vt:lpstr>
      <vt:lpstr>桌面应用：C端产品数据模拟器</vt:lpstr>
      <vt:lpstr>6. GUI界面</vt:lpstr>
      <vt:lpstr>6. GUI界面</vt:lpstr>
    </vt:vector>
  </TitlesOfParts>
  <Company>陈恒鑫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C++综合实验</dc:title>
  <dc:creator>陈恒鑫</dc:creator>
  <cp:lastModifiedBy>CHX</cp:lastModifiedBy>
  <cp:revision>1038</cp:revision>
  <dcterms:created xsi:type="dcterms:W3CDTF">2005-10-02T02:06:00Z</dcterms:created>
  <dcterms:modified xsi:type="dcterms:W3CDTF">2026-03-07T13:17:59Z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61F4DBC2A8C941DBAB1136E8180F34CF</vt:lpwstr>
  </property>
</Properties>
</file>