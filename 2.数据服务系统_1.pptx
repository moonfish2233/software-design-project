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833" r:id="rId4"/>
    <p:sldId id="654" r:id="rId5"/>
    <p:sldId id="655" r:id="rId6"/>
    <p:sldId id="656" r:id="rId7"/>
    <p:sldId id="843" r:id="rId8"/>
    <p:sldId id="667" r:id="rId9"/>
    <p:sldId id="668" r:id="rId10"/>
    <p:sldId id="669" r:id="rId11"/>
    <p:sldId id="682" r:id="rId12"/>
    <p:sldId id="861" r:id="rId13"/>
    <p:sldId id="846" r:id="rId14"/>
    <p:sldId id="847" r:id="rId15"/>
    <p:sldId id="848" r:id="rId16"/>
    <p:sldId id="849" r:id="rId17"/>
    <p:sldId id="850" r:id="rId18"/>
    <p:sldId id="851" r:id="rId19"/>
    <p:sldId id="852" r:id="rId20"/>
    <p:sldId id="853" r:id="rId21"/>
    <p:sldId id="854" r:id="rId22"/>
    <p:sldId id="855" r:id="rId23"/>
    <p:sldId id="856" r:id="rId24"/>
    <p:sldId id="857" r:id="rId25"/>
    <p:sldId id="858" r:id="rId27"/>
    <p:sldId id="859" r:id="rId28"/>
    <p:sldId id="860" r:id="rId29"/>
    <p:sldId id="873" r:id="rId30"/>
  </p:sldIdLst>
  <p:sldSz cx="12192000" cy="6858000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537D24-DEDA-49E9-BB7E-5F850E29E187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4"/>
              </a:solidFill>
            </a:ln>
          </a:top>
          <a:bottom>
            <a:ln w="1905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10000"/>
              <a:lumOff val="90000"/>
            </a:schemeClr>
          </a:solidFill>
        </a:fill>
      </a:tcStyle>
    </a:wholeTbl>
    <a:band2H>
      <a:tcStyle>
        <a:tcBdr/>
        <a:fill>
          <a:solidFill>
            <a:schemeClr val="accent4">
              <a:lumMod val="20000"/>
              <a:lumOff val="80000"/>
            </a:schemeClr>
          </a:solidFill>
        </a:fill>
      </a:tcStyle>
    </a:band2H>
    <a:band1V>
      <a:tcStyle>
        <a:tcBdr/>
        <a:fill>
          <a:solidFill>
            <a:schemeClr val="accent4">
              <a:lumMod val="20000"/>
              <a:lumOff val="8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accent4"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accent4"/>
        </a:fontRef>
      </a:tcTxStyle>
      <a:tcStyle>
        <a:tcBdr/>
        <a:fill>
          <a:solidFill>
            <a:schemeClr val="accent4"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</a:ln>
          </a:top>
          <a:bottom>
            <a:ln w="1905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4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4"/>
              </a:solidFill>
            </a:ln>
          </a:top>
          <a:bottom>
            <a:ln w="9525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7"/>
    <p:restoredTop sz="86352"/>
  </p:normalViewPr>
  <p:slideViewPr>
    <p:cSldViewPr showGuides="1">
      <p:cViewPr varScale="1">
        <p:scale>
          <a:sx n="109" d="100"/>
          <a:sy n="109" d="100"/>
        </p:scale>
        <p:origin x="216" y="256"/>
      </p:cViewPr>
      <p:guideLst>
        <p:guide orient="horz" pos="2174"/>
        <p:guide pos="3918"/>
      </p:guideLst>
    </p:cSldViewPr>
  </p:slideViewPr>
  <p:outlineViewPr>
    <p:cViewPr>
      <p:scale>
        <a:sx n="33" d="100"/>
        <a:sy n="33" d="100"/>
      </p:scale>
      <p:origin x="0" y="2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19409-6C52-4574-BDC8-7D7A8A79503A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2590AA-DB8C-4F5F-94DE-8AD7FEF8C5B9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 userDrawn="1"/>
        </p:nvGrpSpPr>
        <p:grpSpPr>
          <a:xfrm>
            <a:off x="0" y="3155950"/>
            <a:ext cx="12012084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2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4003F8-76D8-40E2-8852-AD17ED6E138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6388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7000" y="228600"/>
            <a:ext cx="28702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84074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ltGray">
          <a:xfrm>
            <a:off x="488951" y="168910"/>
            <a:ext cx="6223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999067" y="168910"/>
            <a:ext cx="465667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ltGray">
          <a:xfrm>
            <a:off x="654051" y="591185"/>
            <a:ext cx="599017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 userDrawn="1"/>
        </p:nvSpPr>
        <p:spPr bwMode="ltGray">
          <a:xfrm>
            <a:off x="1147233" y="591185"/>
            <a:ext cx="52281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ltGray">
          <a:xfrm>
            <a:off x="304800" y="546735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gray">
          <a:xfrm>
            <a:off x="948267" y="60960"/>
            <a:ext cx="99484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gray">
          <a:xfrm>
            <a:off x="522817" y="851535"/>
            <a:ext cx="11669184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45167" y="104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156335"/>
            <a:ext cx="11480800" cy="5579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231245" y="-635"/>
            <a:ext cx="861060" cy="883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仿宋_GB2312" panose="02010609030101010101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3525" y="1196975"/>
            <a:ext cx="12383135" cy="28575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《软件设计》</a:t>
            </a:r>
            <a:b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</a:b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数据服务系统</a:t>
            </a:r>
            <a: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: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上传数据到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服务器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3215323" y="4794885"/>
            <a:ext cx="5864225" cy="1990725"/>
          </a:xfrm>
        </p:spPr>
        <p:txBody>
          <a:bodyPr vert="horz" wrap="square" lIns="91440" tIns="45720" rIns="91440" bIns="45720" anchor="t"/>
          <a:lstStyle/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陈恒鑫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重庆大学计算机学院</a:t>
            </a:r>
            <a:endParaRPr kumimoji="1"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 eaLnBrk="1" hangingPunct="1">
              <a:lnSpc>
                <a:spcPct val="130000"/>
              </a:lnSpc>
              <a:buSzPct val="60000"/>
            </a:pPr>
            <a:r>
              <a:rPr kumimoji="1"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E-Mail:  chenhengxin@cqu.edu.cn</a:t>
            </a:r>
            <a:endParaRPr kumimoji="1" lang="en-US" altLang="zh-CN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数据服务系统：上传数据到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服务器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+mj-ea"/>
              <a:sym typeface="+mn-ea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4008120" y="836930"/>
            <a:ext cx="6377940" cy="589153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Flask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接口设计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消息队列总线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计算机网络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加密与鉴权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服务器端高并发技术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513455" y="1413193"/>
            <a:ext cx="504190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内容占位符 2"/>
          <p:cNvSpPr>
            <a:spLocks noGrp="1"/>
          </p:cNvSpPr>
          <p:nvPr/>
        </p:nvSpPr>
        <p:spPr>
          <a:xfrm>
            <a:off x="7104380" y="980440"/>
            <a:ext cx="6280785" cy="5582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）功能要求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将模拟器产生的数据以HTTP POST请求的方式上传到服务器，服务器以HTTP API的方式接收数据。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服务器的响应时间要在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S以内，模拟器具备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重传机制。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为了确保安全性，数据需要加密和鉴权，服务器需要拒绝验证不通过的数据发送请求。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1200"/>
              </a:spcBef>
            </a:pP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）分档验收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标准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及格：云端服务器能收到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中：撰写API文档，使用HTTP传输数据，通过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功能测试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良：数据需要安全机制（包括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、身份验证、加密），服务器应该拒绝验证失败的服务，具备重传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优：面向消息队列构建服务器集群，可根据访问量启停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docker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服务。使用工具进行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性能测试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1. </a:t>
            </a:r>
            <a:r>
              <a:rPr lang="zh-CN" altLang="en-US" dirty="0" smtClean="0"/>
              <a:t>任务</a:t>
            </a:r>
            <a:r>
              <a:rPr lang="zh-CN" altLang="en-US" dirty="0" smtClean="0"/>
              <a:t>要求</a:t>
            </a:r>
            <a:endParaRPr lang="zh-CN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570" y="1052830"/>
            <a:ext cx="10820400" cy="5608320"/>
          </a:xfrm>
        </p:spPr>
        <p:txBody>
          <a:bodyPr/>
          <a:lstStyle/>
          <a:p>
            <a:pPr marL="0" indent="0" algn="l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）分工</a:t>
            </a: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建议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接收数据、服务器端验证身份、面向消息队列构建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集群：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模拟器上传数据（包括身份验证、重传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机制）：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人；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eaLnBrk="1" latinLnBrk="0" hangingPunct="1">
              <a:lnSpc>
                <a:spcPct val="150000"/>
              </a:lnSpc>
              <a:spcBef>
                <a:spcPts val="2400"/>
              </a:spcBef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撰写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API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接口文档、性能测试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人。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endParaRPr kumimoji="0" lang="en-US" altLang="zh-CN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kumimoji="0" lang="zh-CN" altLang="en-US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（4）验收时间</a:t>
            </a:r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14300" indent="-457200" algn="l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kumimoji="0" lang="en-US" altLang="zh-CN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kumimoji="0" lang="zh-CN" altLang="en-US" b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次课</a:t>
            </a:r>
            <a:endParaRPr kumimoji="0" lang="zh-CN" altLang="en-US" b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数据服务系统：上传数据到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服务器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+mj-ea"/>
              <a:sym typeface="+mn-ea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4008120" y="836930"/>
            <a:ext cx="6377940" cy="589153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Flask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接口设计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消息队列总线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计算机网络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加密与鉴权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服务器端高并发技术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513455" y="2130743"/>
            <a:ext cx="504190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内容占位符 2"/>
          <p:cNvSpPr>
            <a:spLocks noGrp="1"/>
          </p:cNvSpPr>
          <p:nvPr/>
        </p:nvSpPr>
        <p:spPr>
          <a:xfrm>
            <a:off x="7104380" y="980440"/>
            <a:ext cx="6280785" cy="5582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Socket</a:t>
            </a:r>
            <a:r>
              <a:rPr lang="zh-CN" altLang="en-US" dirty="0" smtClean="0"/>
              <a:t>通信</a:t>
            </a:r>
            <a:r>
              <a:rPr lang="en-US" altLang="zh-CN" dirty="0" smtClean="0"/>
              <a:t>--TCP</a:t>
            </a:r>
            <a:r>
              <a:rPr lang="zh-CN" altLang="en-US" dirty="0" smtClean="0"/>
              <a:t>与</a:t>
            </a:r>
            <a:r>
              <a:rPr lang="en-US" altLang="zh-CN" dirty="0" smtClean="0"/>
              <a:t>UDP</a:t>
            </a:r>
            <a:endParaRPr lang="en-US" altLang="zh-CN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5329555" y="1196340"/>
            <a:ext cx="6731635" cy="4439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333399"/>
              </a:buClr>
              <a:buFont typeface="Wingdings" panose="05000000000000000000" charset="0"/>
              <a:buChar char="Ø"/>
            </a:pPr>
            <a:r>
              <a:rPr lang="en-US" altLang="zh-CN" sz="2800" b="1"/>
              <a:t>TCP </a:t>
            </a:r>
            <a:r>
              <a:rPr lang="zh-CN" altLang="en-US" sz="2800" b="1"/>
              <a:t>是面向连接的传输协议，建立连接时要经过三次握手，传输数据时要回复</a:t>
            </a:r>
            <a:r>
              <a:rPr lang="en-US" altLang="zh-CN" sz="2800" b="1"/>
              <a:t> ACK </a:t>
            </a:r>
            <a:r>
              <a:rPr lang="zh-CN" altLang="en-US" sz="2800" b="1"/>
              <a:t>包确认，保证了数据能够正确到达，不会丢失或出错。</a:t>
            </a:r>
            <a:endParaRPr lang="zh-CN" altLang="en-US" sz="2800" b="1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333399"/>
              </a:buClr>
              <a:buFont typeface="Wingdings" panose="05000000000000000000" charset="0"/>
              <a:buChar char="Ø"/>
            </a:pPr>
            <a:r>
              <a:rPr lang="en-US" altLang="zh-CN" sz="2800" b="1"/>
              <a:t>UDP </a:t>
            </a:r>
            <a:r>
              <a:rPr lang="zh-CN" altLang="en-US" sz="2800" b="1"/>
              <a:t>是非连接的传输协议，没有建立连接和断开连接的过程，它只是简单地把数据丢到网络中，也不需要</a:t>
            </a:r>
            <a:r>
              <a:rPr lang="en-US" altLang="zh-CN" sz="2800" b="1"/>
              <a:t> ACK </a:t>
            </a:r>
            <a:r>
              <a:rPr lang="zh-CN" altLang="en-US" sz="2800" b="1"/>
              <a:t>包确认。</a:t>
            </a:r>
            <a:endParaRPr lang="zh-CN" altLang="en-US" sz="2800" b="1"/>
          </a:p>
        </p:txBody>
      </p:sp>
      <p:pic>
        <p:nvPicPr>
          <p:cNvPr id="10" name="图片 9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340485"/>
            <a:ext cx="5210175" cy="4822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Socket</a:t>
            </a:r>
            <a:r>
              <a:rPr lang="zh-CN" altLang="en-US" dirty="0" smtClean="0"/>
              <a:t>通信</a:t>
            </a:r>
            <a:r>
              <a:rPr lang="en-US" altLang="zh-CN" dirty="0" smtClean="0"/>
              <a:t>--Socket</a:t>
            </a:r>
            <a:r>
              <a:rPr lang="zh-CN" altLang="en-US" dirty="0" smtClean="0"/>
              <a:t>套接字</a:t>
            </a:r>
            <a:endParaRPr lang="zh-CN" altLang="en-US" dirty="0" smtClean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31315" y="980440"/>
            <a:ext cx="9824085" cy="5782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Socket</a:t>
            </a:r>
            <a:r>
              <a:rPr lang="zh-CN" altLang="en-US" dirty="0" smtClean="0"/>
              <a:t>通信</a:t>
            </a:r>
            <a:r>
              <a:rPr lang="en-US" altLang="zh-CN" dirty="0" smtClean="0"/>
              <a:t>--Python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编程</a:t>
            </a:r>
            <a:endParaRPr lang="zh-CN" altLang="en-US" dirty="0" smtClean="0"/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2865120" y="6094095"/>
            <a:ext cx="5409565" cy="620395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TCP </a:t>
            </a:r>
            <a:r>
              <a:rPr lang="en-US" altLang="zh-CN"/>
              <a:t>Socket </a:t>
            </a:r>
            <a:r>
              <a:rPr lang="zh-CN" altLang="en-US"/>
              <a:t>通信的基本</a:t>
            </a:r>
            <a:r>
              <a:rPr lang="zh-CN" altLang="en-US"/>
              <a:t>过程</a:t>
            </a:r>
            <a:endParaRPr lang="zh-CN" altLang="en-US"/>
          </a:p>
        </p:txBody>
      </p:sp>
      <p:pic>
        <p:nvPicPr>
          <p:cNvPr id="3" name="图片 2" descr="图片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836930"/>
            <a:ext cx="7401560" cy="50628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56495" y="1340485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.1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文本占位符 1"/>
          <p:cNvSpPr/>
          <p:nvPr/>
        </p:nvSpPr>
        <p:spPr>
          <a:xfrm>
            <a:off x="7967980" y="2060575"/>
            <a:ext cx="4070350" cy="4250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400"/>
              <a:t>在</a:t>
            </a:r>
            <a:r>
              <a:rPr lang="en-US" altLang="zh-CN" sz="2400"/>
              <a:t>Shell</a:t>
            </a:r>
            <a:r>
              <a:rPr lang="zh-CN" altLang="en-US" sz="2400"/>
              <a:t>中分别启动</a:t>
            </a:r>
            <a:r>
              <a:rPr lang="en-US" altLang="zh-CN" sz="2400"/>
              <a:t>Server</a:t>
            </a:r>
            <a:r>
              <a:rPr lang="zh-CN" altLang="en-US" sz="2400"/>
              <a:t>和</a:t>
            </a:r>
            <a:r>
              <a:rPr lang="en-US" altLang="zh-CN" sz="2400"/>
              <a:t>Client</a:t>
            </a:r>
            <a:endParaRPr lang="en-US" altLang="zh-CN" sz="2400"/>
          </a:p>
          <a:p>
            <a:pPr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400"/>
              <a:t>可以使用</a:t>
            </a:r>
            <a:r>
              <a:rPr lang="en-US" altLang="zh-CN" sz="2400"/>
              <a:t>telnet</a:t>
            </a:r>
            <a:r>
              <a:rPr lang="zh-CN" altLang="en-US" sz="2400"/>
              <a:t>来测试</a:t>
            </a:r>
            <a:r>
              <a:rPr lang="en-US" altLang="zh-CN" sz="2400"/>
              <a:t>Server</a:t>
            </a:r>
            <a:endParaRPr lang="en-US" altLang="zh-CN" sz="2400"/>
          </a:p>
          <a:p>
            <a:pPr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400"/>
              <a:t>实践</a:t>
            </a:r>
            <a:r>
              <a:rPr lang="zh-CN" altLang="en-US" sz="2400"/>
              <a:t>中的</a:t>
            </a:r>
            <a:r>
              <a:rPr lang="en-US" altLang="zh-CN" sz="2400"/>
              <a:t>Server</a:t>
            </a:r>
            <a:r>
              <a:rPr lang="zh-CN" altLang="en-US" sz="2400"/>
              <a:t>端会为每一个</a:t>
            </a:r>
            <a:r>
              <a:rPr lang="en-US" altLang="zh-CN" sz="2400"/>
              <a:t>Client</a:t>
            </a:r>
            <a:r>
              <a:rPr lang="zh-CN" altLang="en-US" sz="2400"/>
              <a:t>连接请求单独起一个线程为其服务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263525" y="6165215"/>
            <a:ext cx="28009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Telnet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测试】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2. Socket</a:t>
            </a:r>
            <a:r>
              <a:rPr lang="zh-CN" altLang="en-US" dirty="0" smtClean="0"/>
              <a:t>通信</a:t>
            </a:r>
            <a:r>
              <a:rPr lang="en-US" altLang="zh-CN" dirty="0" smtClean="0"/>
              <a:t>--Python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编程</a:t>
            </a:r>
            <a:endParaRPr lang="zh-CN" altLang="en-US" dirty="0" smtClean="0"/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1775460" y="6021070"/>
            <a:ext cx="4762500" cy="620395"/>
          </a:xfrm>
        </p:spPr>
        <p:txBody>
          <a:bodyPr/>
          <a:p>
            <a:pPr marL="0" indent="0">
              <a:buNone/>
            </a:pPr>
            <a:r>
              <a:rPr lang="en-US" altLang="zh-CN"/>
              <a:t>UDP Socket</a:t>
            </a:r>
            <a:r>
              <a:rPr lang="zh-CN" altLang="en-US"/>
              <a:t>通信的基本</a:t>
            </a:r>
            <a:r>
              <a:rPr lang="zh-CN" altLang="en-US"/>
              <a:t>过程</a:t>
            </a:r>
            <a:endParaRPr lang="zh-CN" altLang="en-US"/>
          </a:p>
        </p:txBody>
      </p:sp>
      <p:pic>
        <p:nvPicPr>
          <p:cNvPr id="4" name="图片 3" descr="图片21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412875"/>
            <a:ext cx="6713855" cy="4312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56495" y="1340485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.2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8" name="文本占位符 1"/>
          <p:cNvSpPr/>
          <p:nvPr/>
        </p:nvSpPr>
        <p:spPr>
          <a:xfrm>
            <a:off x="7967980" y="2060575"/>
            <a:ext cx="4070350" cy="4250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400"/>
              <a:t>在</a:t>
            </a:r>
            <a:r>
              <a:rPr lang="en-US" altLang="zh-CN" sz="2400"/>
              <a:t>Shell</a:t>
            </a:r>
            <a:r>
              <a:rPr lang="zh-CN" altLang="en-US" sz="2400"/>
              <a:t>中分别启动</a:t>
            </a:r>
            <a:r>
              <a:rPr lang="en-US" altLang="zh-CN" sz="2400"/>
              <a:t>Server</a:t>
            </a:r>
            <a:r>
              <a:rPr lang="zh-CN" altLang="en-US" sz="2400"/>
              <a:t>和</a:t>
            </a:r>
            <a:r>
              <a:rPr lang="en-US" altLang="zh-CN" sz="2400"/>
              <a:t>Client</a:t>
            </a:r>
            <a:endParaRPr lang="en-US" altLang="zh-CN" sz="2400"/>
          </a:p>
          <a:p>
            <a:pPr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400"/>
              <a:t>实践</a:t>
            </a:r>
            <a:r>
              <a:rPr lang="zh-CN" altLang="en-US" sz="2400"/>
              <a:t>中的</a:t>
            </a:r>
            <a:r>
              <a:rPr lang="en-US" altLang="zh-CN" sz="2400"/>
              <a:t>Server</a:t>
            </a:r>
            <a:r>
              <a:rPr lang="zh-CN" altLang="en-US" sz="2400"/>
              <a:t>端会为每一个</a:t>
            </a:r>
            <a:r>
              <a:rPr lang="en-US" altLang="zh-CN" sz="2400"/>
              <a:t>Client</a:t>
            </a:r>
            <a:r>
              <a:rPr lang="zh-CN" altLang="en-US" sz="2400"/>
              <a:t>连接请求单独起一个线程为其服务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数据服务系统：上传数据到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+mj-ea"/>
                <a:sym typeface="+mn-ea"/>
              </a:rPr>
              <a:t>服务器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+mj-ea"/>
              <a:sym typeface="+mn-ea"/>
            </a:endParaRPr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4008120" y="836930"/>
            <a:ext cx="6377940" cy="589153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1" 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</a:t>
            </a:r>
            <a:endParaRPr kumimoji="1" lang="zh-CN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Flask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en-US" altLang="zh-CN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接口设计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消息队列总线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计算机网络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加密与鉴权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SzPct val="60000"/>
            </a:pPr>
            <a:r>
              <a:rPr lang="zh-CN" altLang="en-US" sz="3200" dirty="0"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服务器端高并发技术</a:t>
            </a: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513455" y="2848293"/>
            <a:ext cx="504190" cy="0"/>
          </a:xfrm>
          <a:prstGeom prst="straightConnector1">
            <a:avLst/>
          </a:prstGeom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内容占位符 2"/>
          <p:cNvSpPr>
            <a:spLocks noGrp="1"/>
          </p:cNvSpPr>
          <p:nvPr/>
        </p:nvSpPr>
        <p:spPr>
          <a:xfrm>
            <a:off x="7104380" y="980440"/>
            <a:ext cx="6280785" cy="5582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SzPct val="60000"/>
            </a:pPr>
            <a:endParaRPr lang="zh-CN" altLang="en-US" sz="3200" dirty="0"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--Web</a:t>
            </a:r>
            <a:r>
              <a:rPr lang="zh-CN" altLang="en-US" dirty="0" smtClean="0">
                <a:sym typeface="+mn-ea"/>
              </a:rPr>
              <a:t>应用的一般</a:t>
            </a:r>
            <a:r>
              <a:rPr lang="zh-CN" altLang="en-US" dirty="0" smtClean="0">
                <a:sym typeface="+mn-ea"/>
              </a:rPr>
              <a:t>过程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2" name="图片 1" descr="Web应用协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196975"/>
            <a:ext cx="11346180" cy="5371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--Web</a:t>
            </a:r>
            <a:r>
              <a:rPr lang="zh-CN" altLang="en-US" dirty="0" smtClean="0">
                <a:sym typeface="+mn-ea"/>
              </a:rPr>
              <a:t>应用的一般</a:t>
            </a:r>
            <a:r>
              <a:rPr lang="zh-CN" altLang="en-US" dirty="0" smtClean="0">
                <a:sym typeface="+mn-ea"/>
              </a:rPr>
              <a:t>过程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335280" y="1268730"/>
            <a:ext cx="11480800" cy="61023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/>
              <a:t>用户一次动作往往会触发多次</a:t>
            </a:r>
            <a:r>
              <a:rPr lang="en-US" altLang="zh-CN"/>
              <a:t>2-7</a:t>
            </a:r>
            <a:r>
              <a:rPr lang="zh-CN" altLang="en-US"/>
              <a:t>的过程，</a:t>
            </a:r>
            <a:r>
              <a:rPr lang="zh-CN" altLang="en-US"/>
              <a:t>浏览器进行异步</a:t>
            </a:r>
            <a:r>
              <a:rPr lang="zh-CN" altLang="en-US"/>
              <a:t>渲染；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en-US" altLang="zh-CN"/>
              <a:t>Web</a:t>
            </a:r>
            <a:r>
              <a:rPr lang="zh-CN" altLang="en-US"/>
              <a:t>服务器的主要功能有：分发请求、负载均衡、缓存管理、日志审计、安全控制、性能</a:t>
            </a:r>
            <a:r>
              <a:rPr lang="zh-CN" altLang="en-US"/>
              <a:t>监控；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/>
              <a:t>常用的</a:t>
            </a:r>
            <a:r>
              <a:rPr lang="en-US" altLang="zh-CN"/>
              <a:t>Web</a:t>
            </a:r>
            <a:r>
              <a:rPr lang="zh-CN" altLang="en-US"/>
              <a:t>服务器有：</a:t>
            </a:r>
            <a:r>
              <a:rPr lang="en-US" altLang="zh-CN"/>
              <a:t>Apache</a:t>
            </a:r>
            <a:r>
              <a:rPr lang="zh-CN" altLang="en-US"/>
              <a:t>、</a:t>
            </a:r>
            <a:r>
              <a:rPr lang="en-US" altLang="zh-CN"/>
              <a:t>Nginx</a:t>
            </a:r>
            <a:r>
              <a:rPr lang="zh-CN" altLang="en-US"/>
              <a:t>等，</a:t>
            </a:r>
            <a:r>
              <a:rPr lang="en-US" altLang="zh-CN"/>
              <a:t>Flask</a:t>
            </a:r>
            <a:r>
              <a:rPr lang="zh-CN" altLang="en-US"/>
              <a:t>框架默认采用轻量级的</a:t>
            </a:r>
            <a:r>
              <a:rPr lang="en-US" altLang="zh-CN"/>
              <a:t>werkzeug</a:t>
            </a:r>
            <a:r>
              <a:rPr lang="zh-CN" altLang="en-US"/>
              <a:t>作为</a:t>
            </a:r>
            <a:r>
              <a:rPr lang="en-US" altLang="zh-CN"/>
              <a:t>Web</a:t>
            </a:r>
            <a:r>
              <a:rPr lang="zh-CN" altLang="en-US"/>
              <a:t>服务器；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en-US" altLang="zh-CN"/>
              <a:t>Flask</a:t>
            </a:r>
            <a:r>
              <a:rPr lang="zh-CN" altLang="en-US"/>
              <a:t>框架开发的应用是一个应用</a:t>
            </a:r>
            <a:r>
              <a:rPr lang="zh-CN" altLang="en-US"/>
              <a:t>服务器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dirty="0" smtClean="0">
                <a:sym typeface="+mn-ea"/>
              </a:rPr>
              <a:t>HTTP</a:t>
            </a:r>
            <a:r>
              <a:rPr lang="zh-CN" altLang="en-US" dirty="0" smtClean="0">
                <a:sym typeface="+mn-ea"/>
              </a:rPr>
              <a:t>协议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335280" y="1268730"/>
            <a:ext cx="11480800" cy="3044190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000"/>
              <a:t>超文本传输协议（</a:t>
            </a:r>
            <a:r>
              <a:rPr lang="en-US" altLang="zh-CN" sz="2000"/>
              <a:t>Hypertext Transfer Protocol</a:t>
            </a:r>
            <a:r>
              <a:rPr lang="zh-CN" altLang="en-US" sz="2000"/>
              <a:t>，</a:t>
            </a:r>
            <a:r>
              <a:rPr lang="en-US" altLang="zh-CN" sz="2000"/>
              <a:t>HTTP</a:t>
            </a:r>
            <a:r>
              <a:rPr lang="zh-CN" altLang="en-US" sz="2000"/>
              <a:t>）是一个简单的</a:t>
            </a:r>
            <a:r>
              <a:rPr lang="en-US" altLang="zh-CN" sz="2000"/>
              <a:t>“</a:t>
            </a:r>
            <a:r>
              <a:rPr lang="zh-CN" altLang="en-US" sz="2000"/>
              <a:t>请求</a:t>
            </a:r>
            <a:r>
              <a:rPr lang="en-US" altLang="zh-CN" sz="2000"/>
              <a:t>-</a:t>
            </a:r>
            <a:r>
              <a:rPr lang="zh-CN" altLang="en-US" sz="2000"/>
              <a:t>响应</a:t>
            </a:r>
            <a:r>
              <a:rPr lang="en-US" altLang="zh-CN" sz="2000"/>
              <a:t>”</a:t>
            </a:r>
            <a:r>
              <a:rPr lang="zh-CN" altLang="en-US" sz="2000"/>
              <a:t>应用层协议，它通常运行在</a:t>
            </a:r>
            <a:r>
              <a:rPr lang="en-US" altLang="zh-CN" sz="2000"/>
              <a:t>TCP</a:t>
            </a:r>
            <a:r>
              <a:rPr lang="zh-CN" altLang="en-US" sz="2000"/>
              <a:t>之上。</a:t>
            </a:r>
            <a:endParaRPr lang="zh-CN" altLang="en-US" sz="2000"/>
          </a:p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en-US" sz="2000"/>
              <a:t>HTTP</a:t>
            </a:r>
            <a:r>
              <a:rPr lang="zh-CN" altLang="en-US" sz="2000"/>
              <a:t>能够将不同媒体文件（如文本、图片、视频、声音、任意二进制文件）按照统一的标准进行编码打包传递</a:t>
            </a:r>
            <a:endParaRPr lang="zh-CN" altLang="en-US" sz="2000"/>
          </a:p>
          <a:p>
            <a:pPr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Char char="Ø"/>
            </a:pPr>
            <a:r>
              <a:rPr lang="zh-CN" altLang="en-US" sz="2000"/>
              <a:t>浏览器控制台可以查看</a:t>
            </a:r>
            <a:r>
              <a:rPr lang="en-US" altLang="zh-CN" sz="2000"/>
              <a:t>HTTP</a:t>
            </a:r>
            <a:r>
              <a:rPr lang="zh-CN" altLang="en-US" sz="2000"/>
              <a:t>细节</a:t>
            </a:r>
            <a:endParaRPr lang="zh-CN" altLang="en-US" sz="200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35955" y="3573145"/>
            <a:ext cx="5624195" cy="277939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43343" y="4434523"/>
            <a:ext cx="1400175" cy="18954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27760" y="6378575"/>
            <a:ext cx="1882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HTTP</a:t>
            </a:r>
            <a:r>
              <a:rPr lang="zh-CN" altLang="en-US" sz="2000" b="1">
                <a:sym typeface="+mn-ea"/>
              </a:rPr>
              <a:t>报文结构</a:t>
            </a:r>
            <a:endParaRPr lang="zh-CN" altLang="en-US" sz="2000" b="1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84290" y="6428105"/>
            <a:ext cx="41395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HTTP</a:t>
            </a:r>
            <a:r>
              <a:rPr lang="zh-CN" altLang="en-US" sz="2000" b="1">
                <a:sym typeface="+mn-ea"/>
              </a:rPr>
              <a:t>报文请求行所支持的方法</a:t>
            </a:r>
            <a:endParaRPr lang="zh-CN" altLang="en-US" sz="20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en-US" dirty="0" smtClean="0">
                <a:sym typeface="+mn-ea"/>
              </a:rPr>
              <a:t>HTTP</a:t>
            </a:r>
            <a:r>
              <a:rPr lang="zh-CN" altLang="en-US" dirty="0" smtClean="0">
                <a:sym typeface="+mn-ea"/>
              </a:rPr>
              <a:t>协议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623570" y="981075"/>
            <a:ext cx="5309235" cy="633095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2400"/>
              </a:spcBef>
              <a:buFont typeface="Wingdings" panose="05000000000000000000" charset="0"/>
              <a:buNone/>
            </a:pPr>
            <a:r>
              <a:rPr lang="zh-CN" sz="2400"/>
              <a:t>使用</a:t>
            </a:r>
            <a:r>
              <a:rPr lang="en-US" altLang="zh-CN" sz="2400"/>
              <a:t>HTTP</a:t>
            </a:r>
            <a:r>
              <a:rPr lang="zh-CN" altLang="en-US" sz="2400"/>
              <a:t>传递参数有多种方式：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772285"/>
            <a:ext cx="5059680" cy="4077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1699895"/>
            <a:ext cx="5083810" cy="4150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24245" y="6093460"/>
            <a:ext cx="60902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【网站实例分析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: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重大首页、查课表】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--HTTP vs </a:t>
            </a:r>
            <a:r>
              <a:rPr lang="en-US" altLang="zh-CN" dirty="0" smtClean="0">
                <a:sym typeface="+mn-ea"/>
              </a:rPr>
              <a:t>Socket</a:t>
            </a:r>
            <a:endParaRPr lang="en-US" altLang="zh-CN" dirty="0" smtClean="0"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9425" y="1196975"/>
          <a:ext cx="11161395" cy="4300220"/>
        </p:xfrm>
        <a:graphic>
          <a:graphicData uri="http://schemas.openxmlformats.org/drawingml/2006/table">
            <a:tbl>
              <a:tblPr firstRow="1">
                <a:tableStyleId>{0A537D24-DEDA-49E9-BB7E-5F850E29E187}</a:tableStyleId>
              </a:tblPr>
              <a:tblGrid>
                <a:gridCol w="1651635"/>
                <a:gridCol w="3929380"/>
                <a:gridCol w="2790190"/>
                <a:gridCol w="2790190"/>
              </a:tblGrid>
              <a:tr h="659765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 sz="2800" b="1"/>
                        <a:t>开发方式</a:t>
                      </a:r>
                      <a:endParaRPr lang="zh-CN" altLang="en-US" sz="2800" b="1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 sz="2800" b="1"/>
                        <a:t>安全性</a:t>
                      </a:r>
                      <a:endParaRPr lang="zh-CN" altLang="en-US" sz="2800" b="1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 sz="2800" b="1"/>
                        <a:t>开发难度</a:t>
                      </a:r>
                      <a:endParaRPr lang="zh-CN" altLang="en-US" sz="2800" b="1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zh-CN" altLang="en-US" sz="2800" b="1"/>
                        <a:t>适用领域</a:t>
                      </a:r>
                      <a:endParaRPr lang="zh-CN" altLang="en-US" sz="2800" b="1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5740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en-US" altLang="zh-CN" sz="2400"/>
                        <a:t>HTTP</a:t>
                      </a:r>
                      <a:endParaRPr lang="en-US" altLang="zh-CN" sz="2400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内容</a:t>
                      </a:r>
                      <a:r>
                        <a:rPr lang="zh-CN" altLang="en-US" sz="2400">
                          <a:sym typeface="+mn-ea"/>
                        </a:rPr>
                        <a:t>是文本，易理解，安全性更高，大多数网络中间件（如防火墙、代理服务器）都支持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无状态，支持缓存，易开发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开放协议的</a:t>
                      </a:r>
                      <a:r>
                        <a:rPr lang="en-US" altLang="zh-CN" sz="2400">
                          <a:sym typeface="+mn-ea"/>
                        </a:rPr>
                        <a:t>Web</a:t>
                      </a:r>
                      <a:r>
                        <a:rPr lang="zh-CN" altLang="en-US" sz="2400">
                          <a:sym typeface="+mn-ea"/>
                        </a:rPr>
                        <a:t>、</a:t>
                      </a:r>
                      <a:r>
                        <a:rPr lang="en-US" altLang="zh-CN" sz="2400">
                          <a:sym typeface="+mn-ea"/>
                        </a:rPr>
                        <a:t>API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583055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en-US" altLang="zh-CN" sz="2400"/>
                        <a:t>Socket</a:t>
                      </a:r>
                      <a:endParaRPr lang="en-US" altLang="zh-CN" sz="2400"/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内容是字节，不易理解，有可能是执行代码，可能会被</a:t>
                      </a:r>
                      <a:r>
                        <a:rPr lang="zh-CN" altLang="en-US" sz="2400">
                          <a:sym typeface="+mn-ea"/>
                        </a:rPr>
                        <a:t>中间件阻断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需要保持连接状态，考虑的因素更多，开发难度大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 fontAlgn="auto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私有协议的在线游戏、聊天应用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 anchor="ctr" anchorCtr="1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占位符 3"/>
          <p:cNvSpPr/>
          <p:nvPr>
            <p:ph type="body" idx="1"/>
          </p:nvPr>
        </p:nvSpPr>
        <p:spPr>
          <a:xfrm>
            <a:off x="479425" y="5877560"/>
            <a:ext cx="11480800" cy="610235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2400"/>
              </a:spcBef>
              <a:buNone/>
            </a:pPr>
            <a:r>
              <a:rPr lang="zh-CN" altLang="en-US"/>
              <a:t>综上，我们选择采用</a:t>
            </a:r>
            <a:r>
              <a:rPr lang="en-US" altLang="zh-CN"/>
              <a:t>HTTP</a:t>
            </a:r>
            <a:r>
              <a:rPr lang="zh-CN" altLang="en-US"/>
              <a:t>的方式将模拟器数据上传到</a:t>
            </a:r>
            <a:r>
              <a:rPr lang="zh-CN" altLang="en-US"/>
              <a:t>服务器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4" grpId="1" animBg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什么是</a:t>
            </a:r>
            <a:r>
              <a:rPr lang="en-US" altLang="zh-CN" dirty="0" smtClean="0">
                <a:sym typeface="+mn-ea"/>
              </a:rPr>
              <a:t>Flask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/>
        <p:txBody>
          <a:bodyPr/>
          <a:p>
            <a:pPr latinLnBrk="0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/>
              <a:t>Flask</a:t>
            </a:r>
            <a:r>
              <a:rPr lang="zh-CN" altLang="en-US" sz="2400"/>
              <a:t>是一个轻量级的</a:t>
            </a:r>
            <a:r>
              <a:rPr lang="en-US" altLang="zh-CN" sz="2400"/>
              <a:t>Web</a:t>
            </a:r>
            <a:r>
              <a:rPr lang="zh-CN" altLang="en-US" sz="2400"/>
              <a:t>开发框架。所谓框架，就是包含与业务无关的</a:t>
            </a:r>
            <a:r>
              <a:rPr lang="en-US" altLang="zh-CN" sz="2400"/>
              <a:t>Web</a:t>
            </a:r>
            <a:r>
              <a:rPr lang="zh-CN" altLang="en-US" sz="2400"/>
              <a:t>应用程序模块，就如框架房子。</a:t>
            </a:r>
            <a:endParaRPr lang="zh-CN" altLang="en-US" sz="2400"/>
          </a:p>
          <a:p>
            <a:pPr latinLnBrk="0"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/>
              <a:t>开发</a:t>
            </a:r>
            <a:r>
              <a:rPr lang="en-US" altLang="zh-CN" sz="2400"/>
              <a:t>Flask</a:t>
            </a:r>
            <a:r>
              <a:rPr lang="zh-CN" altLang="en-US" sz="2400"/>
              <a:t>应用，只需要拼接这些模块，加上自己的业务逻辑。</a:t>
            </a:r>
            <a:endParaRPr lang="zh-CN" altLang="en-US" sz="2400"/>
          </a:p>
        </p:txBody>
      </p:sp>
      <p:pic>
        <p:nvPicPr>
          <p:cNvPr id="3" name="图片 2" descr="Flask框架基本结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3190240"/>
            <a:ext cx="8268970" cy="3617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提供</a:t>
            </a:r>
            <a:r>
              <a:rPr lang="en-US" altLang="zh-CN" dirty="0" smtClean="0">
                <a:sym typeface="+mn-ea"/>
              </a:rPr>
              <a:t>HTTP</a:t>
            </a:r>
            <a:r>
              <a:rPr lang="zh-CN" altLang="en-US" dirty="0" smtClean="0">
                <a:sym typeface="+mn-ea"/>
              </a:rPr>
              <a:t>服务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5" name="文本占位符 4"/>
          <p:cNvSpPr/>
          <p:nvPr>
            <p:ph type="body" idx="1"/>
          </p:nvPr>
        </p:nvSpPr>
        <p:spPr>
          <a:xfrm>
            <a:off x="3206115" y="6021705"/>
            <a:ext cx="6126480" cy="744855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400"/>
              <a:t>在浏览器中访问</a:t>
            </a:r>
            <a:r>
              <a:rPr lang="en-US" altLang="zh-CN" sz="2400"/>
              <a:t> http://127.0.0.1:5000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315" y="981075"/>
            <a:ext cx="7405370" cy="49485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128250" y="6093460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.3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提供</a:t>
            </a:r>
            <a:r>
              <a:rPr lang="en-US" altLang="zh-CN" dirty="0" smtClean="0">
                <a:sym typeface="+mn-ea"/>
              </a:rPr>
              <a:t>HTTP</a:t>
            </a:r>
            <a:r>
              <a:rPr lang="zh-CN" altLang="en-US" dirty="0" smtClean="0">
                <a:sym typeface="+mn-ea"/>
              </a:rPr>
              <a:t>服务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5" name="文本占位符 4"/>
          <p:cNvSpPr/>
          <p:nvPr>
            <p:ph type="body" idx="1"/>
          </p:nvPr>
        </p:nvSpPr>
        <p:spPr>
          <a:xfrm>
            <a:off x="4952365" y="6021705"/>
            <a:ext cx="2634615" cy="744855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/>
              <a:t>处理登录请求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28250" y="6093460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.4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1125220"/>
            <a:ext cx="6080125" cy="4839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95" y="2132965"/>
            <a:ext cx="5822950" cy="3831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505" y="88265"/>
            <a:ext cx="1639570" cy="2025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返回</a:t>
            </a:r>
            <a:r>
              <a:rPr lang="en-US" altLang="zh-CN" dirty="0" smtClean="0">
                <a:sym typeface="+mn-ea"/>
              </a:rPr>
              <a:t>json</a:t>
            </a:r>
            <a:r>
              <a:rPr lang="zh-CN" altLang="en-US" dirty="0" smtClean="0">
                <a:sym typeface="+mn-ea"/>
              </a:rPr>
              <a:t>数据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406400" y="1156335"/>
            <a:ext cx="11480800" cy="1045845"/>
          </a:xfrm>
        </p:spPr>
        <p:txBody>
          <a:bodyPr/>
          <a:p>
            <a:r>
              <a:rPr lang="en-US" altLang="zh-CN"/>
              <a:t>Flask</a:t>
            </a:r>
            <a:r>
              <a:rPr lang="zh-CN" altLang="en-US"/>
              <a:t>的</a:t>
            </a:r>
            <a:r>
              <a:rPr lang="en-US" altLang="zh-CN"/>
              <a:t>jinja2</a:t>
            </a:r>
            <a:r>
              <a:rPr lang="zh-CN" altLang="en-US"/>
              <a:t>模板方法不能做到前后端分离开发，</a:t>
            </a:r>
            <a:r>
              <a:rPr lang="zh-CN" altLang="en-US">
                <a:solidFill>
                  <a:srgbClr val="FF0000"/>
                </a:solidFill>
              </a:rPr>
              <a:t>后端只返回有业务逻辑意义的</a:t>
            </a:r>
            <a:r>
              <a:rPr lang="en-US" altLang="zh-CN">
                <a:solidFill>
                  <a:srgbClr val="FF0000"/>
                </a:solidFill>
              </a:rPr>
              <a:t>json</a:t>
            </a:r>
            <a:r>
              <a:rPr lang="zh-CN" altLang="en-US">
                <a:solidFill>
                  <a:srgbClr val="FF0000"/>
                </a:solidFill>
              </a:rPr>
              <a:t>数据</a:t>
            </a:r>
            <a:r>
              <a:rPr lang="zh-CN" altLang="en-US"/>
              <a:t>成为主流开发</a:t>
            </a:r>
            <a:r>
              <a:rPr lang="zh-CN" altLang="en-US"/>
              <a:t>方法。</a:t>
            </a:r>
            <a:endParaRPr lang="zh-CN" altLang="en-US"/>
          </a:p>
        </p:txBody>
      </p:sp>
      <p:sp>
        <p:nvSpPr>
          <p:cNvPr id="6" name="文本占位符 3"/>
          <p:cNvSpPr/>
          <p:nvPr/>
        </p:nvSpPr>
        <p:spPr>
          <a:xfrm>
            <a:off x="10488295" y="4221480"/>
            <a:ext cx="1526540" cy="2404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/>
              <a:t>使用</a:t>
            </a:r>
            <a:r>
              <a:rPr lang="en-US" altLang="zh-CN" sz="2400"/>
              <a:t>ApiPost</a:t>
            </a:r>
            <a:r>
              <a:rPr lang="zh-CN" altLang="en-US" sz="2400"/>
              <a:t>工具进行接口测试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10398125" y="3644900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.5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202180"/>
            <a:ext cx="5027930" cy="4486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10" y="2205355"/>
            <a:ext cx="5036185" cy="4420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通过程序方式发送</a:t>
            </a:r>
            <a:r>
              <a:rPr lang="en-US" altLang="zh-CN" dirty="0" smtClean="0">
                <a:sym typeface="+mn-ea"/>
              </a:rPr>
              <a:t>HTTP</a:t>
            </a:r>
            <a:r>
              <a:rPr lang="zh-CN" altLang="en-US" dirty="0" smtClean="0">
                <a:sym typeface="+mn-ea"/>
              </a:rPr>
              <a:t>请求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406400" y="1156335"/>
            <a:ext cx="11480800" cy="1045845"/>
          </a:xfrm>
        </p:spPr>
        <p:txBody>
          <a:bodyPr/>
          <a:p>
            <a:r>
              <a:rPr lang="en-US" altLang="zh-CN"/>
              <a:t>Python</a:t>
            </a:r>
            <a:r>
              <a:rPr lang="zh-CN" altLang="en-US"/>
              <a:t>可以使用</a:t>
            </a:r>
            <a:r>
              <a:rPr lang="en-US" altLang="zh-CN">
                <a:solidFill>
                  <a:srgbClr val="FF0000"/>
                </a:solidFill>
              </a:rPr>
              <a:t>requests</a:t>
            </a:r>
            <a:r>
              <a:rPr lang="zh-CN" altLang="en-US"/>
              <a:t>库、</a:t>
            </a:r>
            <a:r>
              <a:rPr lang="en-US" altLang="zh-CN"/>
              <a:t>http.client</a:t>
            </a:r>
            <a:r>
              <a:rPr lang="zh-CN" altLang="en-US"/>
              <a:t>库、</a:t>
            </a:r>
            <a:r>
              <a:rPr lang="en-US" altLang="zh-CN"/>
              <a:t>urllib</a:t>
            </a:r>
            <a:r>
              <a:rPr lang="zh-CN" altLang="en-US"/>
              <a:t>库等方式发送</a:t>
            </a:r>
            <a:r>
              <a:rPr lang="en-US" altLang="zh-CN"/>
              <a:t>HTTP</a:t>
            </a:r>
            <a:r>
              <a:rPr lang="zh-CN" altLang="en-US"/>
              <a:t>请求。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039225" y="6128385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.6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750" y="2132965"/>
            <a:ext cx="5210175" cy="4517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字典和</a:t>
            </a:r>
            <a:r>
              <a:rPr lang="en-US" altLang="zh-CN" dirty="0" smtClean="0">
                <a:sym typeface="+mn-ea"/>
              </a:rPr>
              <a:t>json</a:t>
            </a:r>
            <a:r>
              <a:rPr lang="zh-CN" altLang="en-US" dirty="0" smtClean="0">
                <a:sym typeface="+mn-ea"/>
              </a:rPr>
              <a:t>字符串互相</a:t>
            </a:r>
            <a:r>
              <a:rPr lang="zh-CN" altLang="en-US" dirty="0" smtClean="0">
                <a:sym typeface="+mn-ea"/>
              </a:rPr>
              <a:t>转换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1410335" y="6165215"/>
            <a:ext cx="9370695" cy="541020"/>
          </a:xfrm>
        </p:spPr>
        <p:txBody>
          <a:bodyPr/>
          <a:p>
            <a:pPr marL="0" indent="0">
              <a:buNone/>
            </a:pPr>
            <a:r>
              <a:rPr lang="zh-CN" altLang="en-US"/>
              <a:t>使用</a:t>
            </a:r>
            <a:r>
              <a:rPr lang="en-US" altLang="zh-CN">
                <a:solidFill>
                  <a:srgbClr val="FF0000"/>
                </a:solidFill>
              </a:rPr>
              <a:t>jsonify</a:t>
            </a:r>
            <a:r>
              <a:rPr lang="zh-CN" altLang="en-US"/>
              <a:t>库将更复杂的</a:t>
            </a:r>
            <a:r>
              <a:rPr lang="en-US" altLang="zh-CN"/>
              <a:t>Python</a:t>
            </a:r>
            <a:r>
              <a:rPr lang="zh-CN" altLang="en-US"/>
              <a:t>对象转换为</a:t>
            </a:r>
            <a:r>
              <a:rPr lang="en-US" altLang="zh-CN"/>
              <a:t>json</a:t>
            </a:r>
            <a:r>
              <a:rPr lang="zh-CN" altLang="en-US"/>
              <a:t>字符串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768205" y="5355590"/>
            <a:ext cx="1802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.7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8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940" y="1052830"/>
            <a:ext cx="6757670" cy="4824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使用</a:t>
            </a:r>
            <a:r>
              <a:rPr lang="en-US" altLang="zh-CN" dirty="0" smtClean="0">
                <a:sym typeface="+mn-ea"/>
              </a:rPr>
              <a:t>HTTP</a:t>
            </a:r>
            <a:r>
              <a:rPr lang="en-US" altLang="zh-CN" dirty="0" smtClean="0">
                <a:sym typeface="+mn-ea"/>
              </a:rPr>
              <a:t>S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624205" y="1125220"/>
            <a:ext cx="10998200" cy="560578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方法一：直接使用</a:t>
            </a:r>
            <a:r>
              <a:rPr lang="en-US" altLang="zh-CN"/>
              <a:t>F</a:t>
            </a:r>
            <a:r>
              <a:rPr lang="en-US" altLang="zh-CN"/>
              <a:t>lask</a:t>
            </a:r>
            <a:r>
              <a:rPr lang="zh-CN" altLang="en-US"/>
              <a:t>启动</a:t>
            </a:r>
            <a:r>
              <a:rPr lang="en-US" altLang="zh-CN"/>
              <a:t>HTTPS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endParaRPr lang="en-US" altLang="zh-CN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方法二：配置</a:t>
            </a:r>
            <a:r>
              <a:rPr lang="en-US" altLang="zh-CN"/>
              <a:t>Web</a:t>
            </a:r>
            <a:r>
              <a:rPr lang="zh-CN" altLang="en-US"/>
              <a:t>服务器（推荐</a:t>
            </a:r>
            <a:r>
              <a:rPr lang="en-US" altLang="zh-CN"/>
              <a:t>Nginx</a:t>
            </a:r>
            <a:r>
              <a:rPr lang="zh-CN" altLang="en-US"/>
              <a:t>）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申请</a:t>
            </a:r>
            <a:r>
              <a:rPr lang="zh-CN" altLang="en-US"/>
              <a:t>证书：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开发阶段：可以使用自签名</a:t>
            </a:r>
            <a:r>
              <a:rPr lang="zh-CN" altLang="en-US"/>
              <a:t>证书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生产环境：获取第三方证书（申请域名，购买</a:t>
            </a:r>
            <a:r>
              <a:rPr lang="zh-CN" altLang="en-US"/>
              <a:t>证书）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https://blog.csdn.net/weixin_44585288/article/details/139627366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第二阶段验收要求使用</a:t>
            </a:r>
            <a:r>
              <a:rPr lang="en-US" altLang="zh-CN">
                <a:solidFill>
                  <a:srgbClr val="FF0000"/>
                </a:solidFill>
              </a:rPr>
              <a:t>HTTPS</a:t>
            </a:r>
            <a:r>
              <a:rPr lang="zh-CN" altLang="en-US">
                <a:solidFill>
                  <a:srgbClr val="FF0000"/>
                </a:solidFill>
              </a:rPr>
              <a:t>通道。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使用</a:t>
            </a:r>
            <a:r>
              <a:rPr lang="en-US" altLang="zh-CN" dirty="0" smtClean="0">
                <a:sym typeface="+mn-ea"/>
              </a:rPr>
              <a:t>HTTPS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283210" y="6014720"/>
            <a:ext cx="11625580" cy="532130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400"/>
              <a:t>参考：</a:t>
            </a:r>
            <a:r>
              <a:rPr lang="en-US" altLang="zh-CN" sz="2400"/>
              <a:t>https://blog.csdn.net/qq_33934427/article/details/127456673</a:t>
            </a:r>
            <a:endParaRPr lang="en-US" altLang="zh-CN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908685"/>
            <a:ext cx="5688330" cy="2411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45" y="908685"/>
            <a:ext cx="4953000" cy="2343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3437890"/>
            <a:ext cx="8972550" cy="2505075"/>
          </a:xfrm>
          <a:prstGeom prst="rect">
            <a:avLst/>
          </a:prstGeom>
        </p:spPr>
      </p:pic>
      <p:sp>
        <p:nvSpPr>
          <p:cNvPr id="7" name="文本占位符 3"/>
          <p:cNvSpPr/>
          <p:nvPr/>
        </p:nvSpPr>
        <p:spPr>
          <a:xfrm>
            <a:off x="9416415" y="3501390"/>
            <a:ext cx="2683510" cy="260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sz="1800"/>
              <a:t>采用左侧自生成的</a:t>
            </a:r>
            <a:r>
              <a:rPr lang="en-US" altLang="zh-CN" sz="1800"/>
              <a:t>SSL</a:t>
            </a:r>
            <a:r>
              <a:rPr lang="zh-CN" altLang="en-US" sz="1800"/>
              <a:t>证书无法通过验证，一般都需要到平台申请免费证书。</a:t>
            </a:r>
            <a:endParaRPr lang="zh-CN" altLang="en-US" sz="1800"/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en-US" altLang="zh-CN" sz="1800">
                <a:solidFill>
                  <a:srgbClr val="FF0000"/>
                </a:solidFill>
              </a:rPr>
              <a:t>1024 -&gt; 2048</a:t>
            </a:r>
            <a:endParaRPr lang="en-US" altLang="zh-CN" sz="1800">
              <a:solidFill>
                <a:srgbClr val="FF0000"/>
              </a:solidFill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1800">
                <a:solidFill>
                  <a:srgbClr val="FF0000"/>
                </a:solidFill>
              </a:rPr>
              <a:t>多数</a:t>
            </a:r>
            <a:r>
              <a:rPr lang="en-US" altLang="zh-CN" sz="1800">
                <a:solidFill>
                  <a:srgbClr val="FF0000"/>
                </a:solidFill>
              </a:rPr>
              <a:t>Linux</a:t>
            </a:r>
            <a:r>
              <a:rPr lang="zh-CN" altLang="en-US" sz="1800">
                <a:solidFill>
                  <a:srgbClr val="FF0000"/>
                </a:solidFill>
              </a:rPr>
              <a:t>自带</a:t>
            </a:r>
            <a:r>
              <a:rPr lang="en-US" altLang="zh-CN" sz="1800">
                <a:solidFill>
                  <a:srgbClr val="FF0000"/>
                </a:solidFill>
              </a:rPr>
              <a:t>openssl</a:t>
            </a:r>
            <a:endParaRPr lang="en-US" altLang="zh-CN" sz="18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24695" y="3251835"/>
            <a:ext cx="20961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【例</a:t>
            </a:r>
            <a:r>
              <a:rPr lang="en-US" altLang="zh-CN" sz="20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2.8-2.9</a:t>
            </a:r>
            <a:r>
              <a:rPr lang="zh-CN" altLang="en-US" sz="2000" b="1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】</a:t>
            </a:r>
            <a:endParaRPr lang="zh-CN" altLang="en-US" sz="2000" b="1" kern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4" grpId="0" animBg="1" build="p"/>
      <p:bldP spid="4" grpId="1" animBg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使用</a:t>
            </a:r>
            <a:r>
              <a:rPr lang="en-US" altLang="zh-CN" dirty="0" smtClean="0">
                <a:sym typeface="+mn-ea"/>
              </a:rPr>
              <a:t>HTTP</a:t>
            </a:r>
            <a:r>
              <a:rPr lang="en-US" altLang="zh-CN" dirty="0" smtClean="0">
                <a:sym typeface="+mn-ea"/>
              </a:rPr>
              <a:t>S</a:t>
            </a:r>
            <a:endParaRPr lang="en-US" altLang="zh-CN" dirty="0" smtClean="0">
              <a:sym typeface="+mn-ea"/>
            </a:endParaRPr>
          </a:p>
        </p:txBody>
      </p:sp>
      <p:pic>
        <p:nvPicPr>
          <p:cNvPr id="3" name="图片 2" descr="微信截图_20250310152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908685"/>
            <a:ext cx="8739505" cy="5890260"/>
          </a:xfrm>
          <a:prstGeom prst="rect">
            <a:avLst/>
          </a:prstGeom>
        </p:spPr>
      </p:pic>
      <p:sp>
        <p:nvSpPr>
          <p:cNvPr id="5" name="文本占位符 4"/>
          <p:cNvSpPr/>
          <p:nvPr>
            <p:ph type="body" idx="1"/>
          </p:nvPr>
        </p:nvSpPr>
        <p:spPr>
          <a:xfrm>
            <a:off x="9048750" y="5445125"/>
            <a:ext cx="3027680" cy="1245235"/>
          </a:xfrm>
        </p:spPr>
        <p:txBody>
          <a:bodyPr/>
          <a:p>
            <a:pPr marL="0" indent="0"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en-US" altLang="zh-CN" sz="2400"/>
              <a:t>PC</a:t>
            </a:r>
            <a:r>
              <a:rPr lang="zh-CN" altLang="en-US" sz="2400"/>
              <a:t>本地使用</a:t>
            </a:r>
            <a:r>
              <a:rPr lang="en-US" altLang="zh-CN" sz="2400"/>
              <a:t>HOSTS</a:t>
            </a:r>
            <a:r>
              <a:rPr lang="zh-CN" altLang="en-US" sz="2400"/>
              <a:t>文件来指定域名解析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build="p"/>
      <p:bldP spid="5" grpId="1" animBg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ym typeface="+mn-ea"/>
              </a:rPr>
              <a:t>3. Flask</a:t>
            </a:r>
            <a:r>
              <a:rPr lang="zh-CN" altLang="en-US" dirty="0" smtClean="0">
                <a:sym typeface="+mn-ea"/>
              </a:rPr>
              <a:t>框架</a:t>
            </a:r>
            <a:r>
              <a:rPr lang="en-US" altLang="zh-CN" dirty="0" smtClean="0">
                <a:sym typeface="+mn-ea"/>
              </a:rPr>
              <a:t>--</a:t>
            </a:r>
            <a:r>
              <a:rPr lang="zh-CN" altLang="en-US" dirty="0" smtClean="0">
                <a:sym typeface="+mn-ea"/>
              </a:rPr>
              <a:t>思考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263525" y="4653280"/>
            <a:ext cx="11625580" cy="1830705"/>
          </a:xfrm>
        </p:spPr>
        <p:txBody>
          <a:bodyPr/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对于</a:t>
            </a:r>
            <a:r>
              <a:rPr lang="en-US" altLang="zh-CN"/>
              <a:t>Simulator</a:t>
            </a:r>
            <a:r>
              <a:rPr lang="zh-CN" altLang="en-US"/>
              <a:t>而言，如果网络不通，或者服务器无反应，</a:t>
            </a:r>
            <a:r>
              <a:rPr lang="zh-CN" altLang="en-US"/>
              <a:t>怎么办？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对于服务器而言，如果自己宕机了</a:t>
            </a:r>
            <a:r>
              <a:rPr lang="zh-CN" altLang="en-US"/>
              <a:t>怎么办？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如何</a:t>
            </a:r>
            <a:r>
              <a:rPr lang="zh-CN" altLang="en-US"/>
              <a:t>唯一标识</a:t>
            </a:r>
            <a:r>
              <a:rPr lang="zh-CN" altLang="en-US"/>
              <a:t>模拟器？</a:t>
            </a:r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154805" y="1125220"/>
            <a:ext cx="3392170" cy="299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/>
        </p:nvSpPr>
        <p:spPr>
          <a:xfrm>
            <a:off x="1672167" y="231775"/>
            <a:ext cx="9448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dirty="0" smtClean="0">
                <a:sym typeface="+mn-ea"/>
              </a:rPr>
              <a:t>第三周任务</a:t>
            </a:r>
            <a:endParaRPr lang="zh-CN" dirty="0" smtClean="0">
              <a:sym typeface="+mn-ea"/>
            </a:endParaRPr>
          </a:p>
        </p:txBody>
      </p:sp>
      <p:sp>
        <p:nvSpPr>
          <p:cNvPr id="4" name="文本占位符 1"/>
          <p:cNvSpPr/>
          <p:nvPr/>
        </p:nvSpPr>
        <p:spPr>
          <a:xfrm>
            <a:off x="407035" y="981075"/>
            <a:ext cx="11480800" cy="5859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defRPr>
            </a:lvl9pPr>
          </a:lstStyle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使用</a:t>
            </a:r>
            <a:r>
              <a:rPr lang="en-US" altLang="zh-CN"/>
              <a:t>Flask</a:t>
            </a:r>
            <a:r>
              <a:rPr lang="zh-CN" altLang="en-US"/>
              <a:t>等开发包开发数据服务器，能将收到的数据保存到文件，要有日志。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实现本地到云端，以及云端到云端的数据传输。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/>
              <a:t>能实现云端服务器代码</a:t>
            </a:r>
            <a:r>
              <a:rPr lang="en-US" altLang="zh-CN"/>
              <a:t>“</a:t>
            </a:r>
            <a:r>
              <a:rPr lang="zh-CN"/>
              <a:t>一键</a:t>
            </a:r>
            <a:r>
              <a:rPr lang="en-US" altLang="zh-CN"/>
              <a:t>”</a:t>
            </a:r>
            <a:r>
              <a:rPr lang="zh-CN"/>
              <a:t>更新和重启（持续化集成</a:t>
            </a:r>
            <a:r>
              <a:rPr lang="zh-CN"/>
              <a:t>部署</a:t>
            </a:r>
            <a:r>
              <a:rPr lang="en-US" altLang="zh-CN"/>
              <a:t>Jekins</a:t>
            </a:r>
            <a:r>
              <a:rPr lang="zh-CN" altLang="en-US"/>
              <a:t>）</a:t>
            </a: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endParaRPr lang="zh-CN" altLang="en-US"/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</a:pPr>
            <a:r>
              <a:rPr lang="zh-CN" altLang="en-US"/>
              <a:t>用表格尽可能多地列出每一次数据传输过程（</a:t>
            </a:r>
            <a:r>
              <a:rPr lang="en-US" altLang="zh-CN"/>
              <a:t>API</a:t>
            </a:r>
            <a:r>
              <a:rPr lang="zh-CN" altLang="en-US"/>
              <a:t>接口）的数据参数名称、类型、传输频率。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d57c892-e6af-4e38-a903-68dadd506c7c"/>
  <p:tag name="COMMONDATA" val="eyJoZGlkIjoiODViY2JkMjU3NGYzZTEwMzZmMGFkZWViYmNkYWU3NDIifQ=="/>
  <p:tag name="commondata" val="eyJoZGlkIjoiNmVkODA1Mzg0NTk4NGJmNTJhNmI4OTFjZmZmYzhhNjMifQ=="/>
  <p:tag name="resource_record_key" val="{&quot;29&quot;:[50000213]}"/>
</p:tagLst>
</file>

<file path=ppt/theme/theme1.xml><?xml version="1.0" encoding="utf-8"?>
<a:theme xmlns:a="http://schemas.openxmlformats.org/drawingml/2006/main" name="程序设计技术课件模板">
  <a:themeElements>
    <a:clrScheme name="程序设计技术课件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程序设计技术课件模板">
      <a:majorFont>
        <a:latin typeface="Tahoma"/>
        <a:ea typeface="华文新魏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程序设计技术课件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程序设计技术课件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程序设计技术课件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程序设计技术课件模板</Template>
  <TotalTime>0</TotalTime>
  <Words>2720</Words>
  <Application>WPS 演示</Application>
  <PresentationFormat>宽屏</PresentationFormat>
  <Paragraphs>232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宋体</vt:lpstr>
      <vt:lpstr>Wingdings</vt:lpstr>
      <vt:lpstr>Tahoma</vt:lpstr>
      <vt:lpstr>华文新魏</vt:lpstr>
      <vt:lpstr>仿宋_GB2312</vt:lpstr>
      <vt:lpstr>仿宋</vt:lpstr>
      <vt:lpstr>微软雅黑</vt:lpstr>
      <vt:lpstr>Wingdings</vt:lpstr>
      <vt:lpstr>Arial Unicode MS</vt:lpstr>
      <vt:lpstr>Calibri</vt:lpstr>
      <vt:lpstr>仿宋_GB2312</vt:lpstr>
      <vt:lpstr>方正仿宋_GB2312</vt:lpstr>
      <vt:lpstr>程序设计技术课件模板</vt:lpstr>
      <vt:lpstr>《软件设计》 数据服务系统:上传数据到服务器</vt:lpstr>
      <vt:lpstr>数据服务系统：上传数据到服务器</vt:lpstr>
      <vt:lpstr>1. 任务要求</vt:lpstr>
      <vt:lpstr>1. 任务要求</vt:lpstr>
      <vt:lpstr>1. 任务要求</vt:lpstr>
      <vt:lpstr>数据服务系统：上传数据到服务器</vt:lpstr>
      <vt:lpstr>2. Socket通信--TCP与UDP</vt:lpstr>
      <vt:lpstr>2. Socket通信--Socket套接字</vt:lpstr>
      <vt:lpstr>2. Socket通信--Python中的Socket编程</vt:lpstr>
      <vt:lpstr>2. Socket通信--Python中的Socket编程</vt:lpstr>
      <vt:lpstr>数据服务系统：上传数据到服务器</vt:lpstr>
      <vt:lpstr>3. Flask框架--Web应用的一般过程</vt:lpstr>
      <vt:lpstr>3. Flask框架--Web应用的一般过程</vt:lpstr>
      <vt:lpstr>3. Flask框架--HTTP协议</vt:lpstr>
      <vt:lpstr>3. Flask框架--HTTP协议</vt:lpstr>
      <vt:lpstr>3. Flask框架--HTTP vs Socket</vt:lpstr>
      <vt:lpstr>3. Flask框架--什么是Flask</vt:lpstr>
      <vt:lpstr>3. Flask框架--提供HTTP服务</vt:lpstr>
      <vt:lpstr>3. Flask框架--提供HTTP服务</vt:lpstr>
      <vt:lpstr>3. Flask框架--返回json数据</vt:lpstr>
      <vt:lpstr>3. Flask框架--通过程序方式发送HTTP请求</vt:lpstr>
      <vt:lpstr>3. Flask框架--字典和json字符串互相转换</vt:lpstr>
      <vt:lpstr>3. Flask框架--使用HTTPS</vt:lpstr>
      <vt:lpstr>3. Flask框架--使用HTTPS</vt:lpstr>
      <vt:lpstr>3. Flask框架--使用HTTPS</vt:lpstr>
      <vt:lpstr>3. Flask框架--思考</vt:lpstr>
      <vt:lpstr>PowerPoint 演示文稿</vt:lpstr>
    </vt:vector>
  </TitlesOfParts>
  <Company>陈恒鑫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C++综合实验</dc:title>
  <dc:creator>陈恒鑫</dc:creator>
  <cp:lastModifiedBy>CHX</cp:lastModifiedBy>
  <cp:revision>1049</cp:revision>
  <dcterms:created xsi:type="dcterms:W3CDTF">2005-10-02T02:06:00Z</dcterms:created>
  <dcterms:modified xsi:type="dcterms:W3CDTF">2026-03-20T15:13:04Z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61F4DBC2A8C941DBAB1136E8180F34CF</vt:lpwstr>
  </property>
</Properties>
</file>