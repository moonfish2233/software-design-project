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核心功能100%完成，性能指标超出预期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96F3"/>
                </a:solidFill>
              </a:defRPr>
            </a:pPr>
            <a:r>
              <a:t>数据服务器系统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第二阶段验收汇报</a:t>
            </a:r>
          </a:p>
          <a:p>
            <a:r>
              <a:t>RESTful API | 安全认证 | 消息队列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969696"/>
                </a:solidFill>
              </a:defRPr>
            </a:pPr>
            <a:r>
              <a:t>汇报人：[你的名字]</a:t>
            </a:r>
            <a:br/>
            <a:r>
              <a:t>日期：2026年4月17日</a:t>
            </a:r>
            <a:br/>
            <a:r>
              <a:t>项目：Flask Data Server v3.0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验收任务完成情况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/>
            </a:pPr>
            <a:r>
              <a:t>✅ 已完成 7/8 项（HTTPS为可选项）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 b="1"/>
            </a:pPr>
            <a:r>
              <a:t>(1) RESTful API接口 - ✅ 已完成</a:t>
            </a:r>
          </a:p>
          <a:p>
            <a:pPr lvl="1">
              <a:spcAft>
                <a:spcPts val="1000"/>
              </a:spcAft>
              <a:defRPr sz="1800"/>
            </a:pPr>
            <a:r>
              <a:t>12个API接口，Gunicorn多进程部署</a:t>
            </a:r>
          </a:p>
          <a:p>
            <a:pPr>
              <a:spcAft>
                <a:spcPts val="1000"/>
              </a:spcAft>
              <a:defRPr sz="2000" b="1"/>
            </a:pPr>
            <a:r>
              <a:t>(2) 数据上传与保存 - ✅ 已完成</a:t>
            </a:r>
          </a:p>
          <a:p>
            <a:pPr lvl="1">
              <a:spcAft>
                <a:spcPts val="1000"/>
              </a:spcAft>
              <a:defRPr sz="1800"/>
            </a:pPr>
            <a:r>
              <a:t>JSON格式存储，data目录15000+文件</a:t>
            </a:r>
          </a:p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</a:defRPr>
            </a:pPr>
            <a:r>
              <a:t>(3) HTTPS访问 - ⚠️ 可选未配置</a:t>
            </a:r>
          </a:p>
          <a:p>
            <a:pPr>
              <a:spcAft>
                <a:spcPts val="1000"/>
              </a:spcAft>
              <a:defRPr sz="2000" b="1"/>
            </a:pPr>
            <a:r>
              <a:t>(4) 接口文档 - ✅ 已完成</a:t>
            </a:r>
          </a:p>
          <a:p>
            <a:pPr lvl="1">
              <a:spcAft>
                <a:spcPts val="1000"/>
              </a:spcAft>
              <a:defRPr sz="1800"/>
            </a:pPr>
            <a:r>
              <a:t>Markdown + Swagger + Postman完整文档</a:t>
            </a:r>
          </a:p>
          <a:p>
            <a:pPr>
              <a:spcAft>
                <a:spcPts val="1000"/>
              </a:spcAft>
              <a:defRPr sz="2000" b="1"/>
            </a:pPr>
            <a:r>
              <a:t>(5) 鉴权机制 - ✅ 已完成</a:t>
            </a:r>
          </a:p>
          <a:p>
            <a:pPr lvl="1">
              <a:spcAft>
                <a:spcPts val="1000"/>
              </a:spcAft>
              <a:defRPr sz="1800"/>
            </a:pPr>
            <a:r>
              <a:t>JWT Token + API Key + 速率限制</a:t>
            </a:r>
          </a:p>
          <a:p>
            <a:pPr>
              <a:spcAft>
                <a:spcPts val="1000"/>
              </a:spcAft>
              <a:defRPr sz="2000" b="1"/>
            </a:pPr>
            <a:r>
              <a:t>(6) 数据加密 - ✅ 已完成</a:t>
            </a:r>
          </a:p>
          <a:p>
            <a:pPr lvl="1">
              <a:spcAft>
                <a:spcPts val="1000"/>
              </a:spcAft>
              <a:defRPr sz="1800"/>
            </a:pPr>
            <a:r>
              <a:t>AES-256加密传输与解密</a:t>
            </a:r>
          </a:p>
          <a:p>
            <a:pPr>
              <a:spcAft>
                <a:spcPts val="1000"/>
              </a:spcAft>
              <a:defRPr sz="2000" b="1"/>
            </a:pPr>
            <a:r>
              <a:t>(7) 消息队列 - ✅ 已完成</a:t>
            </a:r>
          </a:p>
          <a:p>
            <a:pPr lvl="1">
              <a:spcAft>
                <a:spcPts val="1000"/>
              </a:spcAft>
              <a:defRPr sz="1800"/>
            </a:pPr>
            <a:r>
              <a:t>Redis Streams实现异步解耦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系统技术架构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/>
            </a:pPr>
            <a:r>
              <a:t>技术栈组成</a:t>
            </a:r>
          </a:p>
          <a:p>
            <a:pPr lvl="1">
              <a:spcAft>
                <a:spcPts val="1000"/>
              </a:spcAft>
              <a:defRPr sz="1800"/>
            </a:pPr>
            <a:r>
              <a:t>后端框架：Python Flask + Gunicorn（8 workers）</a:t>
            </a:r>
          </a:p>
          <a:p>
            <a:pPr lvl="1">
              <a:spcAft>
                <a:spcPts val="1000"/>
              </a:spcAft>
              <a:defRPr sz="1800"/>
            </a:pPr>
            <a:r>
              <a:t>数据存储：JSON文件 + Redis Streams</a:t>
            </a:r>
          </a:p>
          <a:p>
            <a:pPr lvl="1">
              <a:spcAft>
                <a:spcPts val="1000"/>
              </a:spcAft>
              <a:defRPr sz="1800"/>
            </a:pPr>
            <a:r>
              <a:t>安全认证：JWT + API Key + AES-256</a:t>
            </a:r>
          </a:p>
          <a:p>
            <a:pPr lvl="1">
              <a:spcAft>
                <a:spcPts val="1000"/>
              </a:spcAft>
              <a:defRPr sz="1800"/>
            </a:pPr>
            <a:r>
              <a:t>限流保护：Flask-Limiter（50 req/min）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架构特点</a:t>
            </a:r>
          </a:p>
          <a:p>
            <a:pPr lvl="1">
              <a:spcAft>
                <a:spcPts val="1000"/>
              </a:spcAft>
              <a:defRPr sz="1800"/>
            </a:pPr>
            <a:r>
              <a:t>模块化设计：receiver / validator / writer / logger</a:t>
            </a:r>
          </a:p>
          <a:p>
            <a:pPr lvl="1">
              <a:spcAft>
                <a:spcPts val="1000"/>
              </a:spcAft>
              <a:defRPr sz="1800"/>
            </a:pPr>
            <a:r>
              <a:t>异步日志：独立线程处理，零阻塞I/O</a:t>
            </a:r>
          </a:p>
          <a:p>
            <a:pPr lvl="1">
              <a:spcAft>
                <a:spcPts val="1000"/>
              </a:spcAft>
              <a:defRPr sz="1800"/>
            </a:pPr>
            <a:r>
              <a:t>高并发支持：QPS可达1000+</a:t>
            </a:r>
          </a:p>
          <a:p>
            <a:pPr lvl="1">
              <a:spcAft>
                <a:spcPts val="1000"/>
              </a:spcAft>
              <a:defRPr sz="1800"/>
            </a:pPr>
            <a:r>
              <a:t>部署环境：阿里云ECS（47.103.108.47）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2196F3"/>
                </a:solidFill>
              </a:defRPr>
            </a:pPr>
            <a:r>
              <a:t>RESTful API接口概览（12个）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37160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接口分类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接口路径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数据接收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/api/receive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基础数据接收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/api/sensor/skin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皮肤传感器数据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/api/sensor/environment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环境传感器数据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安全认证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/api/auth/login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JWT登录获取Token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/api/auth/apikey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生成API Key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/api/receive/secure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加密数据接收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工具类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/api/health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健康检查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/api/stats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服务统计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/api/encrypt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数据加密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800" b="1">
                <a:solidFill>
                  <a:srgbClr val="2196F3"/>
                </a:solidFill>
              </a:defRPr>
            </a:pPr>
            <a:r>
              <a:t>多层鉴权机制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646464"/>
                </a:solidFill>
              </a:defRPr>
            </a:pPr>
            <a:r>
              <a:t>双重认证方式 + 速率限制防护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23232"/>
                </a:solidFill>
                <a:latin typeface="Consolas"/>
              </a:defRPr>
            </a:pPr>
            <a:r>
              <a:t># 方式1: JWT Token认证</a:t>
            </a:r>
            <a:br/>
            <a:r>
              <a:t># Step 1: 登录获取Token</a:t>
            </a:r>
            <a:br/>
            <a:r>
              <a:t>POST /api/auth/login</a:t>
            </a:r>
            <a:br/>
            <a:r>
              <a:t>{</a:t>
            </a:r>
            <a:br/>
            <a:r>
              <a:t>  "username": "admin",</a:t>
            </a:r>
            <a:br/>
            <a:r>
              <a:t>  "password": "admin123"</a:t>
            </a:r>
            <a:br/>
            <a:r>
              <a:t>}</a:t>
            </a:r>
            <a:br/>
            <a:r>
              <a:t>响应: {"token": "eyJhbGciOiJIUzI1NiIs..."}</a:t>
            </a:r>
            <a:br/>
            <a:br/>
            <a:r>
              <a:t># Step 2: 携带Token访问</a:t>
            </a:r>
            <a:br/>
            <a:r>
              <a:t>POST /api/receive</a:t>
            </a:r>
            <a:br/>
            <a:r>
              <a:t>Headers: {</a:t>
            </a:r>
            <a:br/>
            <a:r>
              <a:t>  "Authorization": "Bearer &lt;token&gt;"</a:t>
            </a:r>
            <a:br/>
            <a:r>
              <a:t>}</a:t>
            </a:r>
            <a:br/>
            <a:br/>
            <a:r>
              <a:t># 方式2: API Key认证</a:t>
            </a:r>
            <a:br/>
            <a:r>
              <a:t>POST /api/receive/apikey</a:t>
            </a:r>
            <a:br/>
            <a:r>
              <a:t>Headers: {</a:t>
            </a:r>
            <a:br/>
            <a:r>
              <a:t>  "X-API-Key": "your-api-key-here"</a:t>
            </a:r>
            <a:br/>
            <a:r>
              <a:t>}</a:t>
            </a:r>
            <a:br/>
            <a:br/>
            <a:r>
              <a:t># 速率限制</a:t>
            </a:r>
            <a:br/>
            <a:r>
              <a:t>Flask-Limiter: 50 requests/minute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08792" cy="4297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AES-256数据加密传输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/>
            </a:pPr>
            <a:r>
              <a:t>加密流程</a:t>
            </a:r>
          </a:p>
          <a:p>
            <a:pPr lvl="1">
              <a:spcAft>
                <a:spcPts val="1000"/>
              </a:spcAft>
              <a:defRPr sz="1800"/>
            </a:pPr>
            <a:r>
              <a:t>客户端 → AES-256加密 → Base64编码 → POST /api/receive/secure</a:t>
            </a:r>
          </a:p>
          <a:p>
            <a:pPr lvl="1">
              <a:spcAft>
                <a:spcPts val="1000"/>
              </a:spcAft>
              <a:defRPr sz="1800"/>
            </a:pPr>
            <a:r>
              <a:t>服务器 → Base64解码 → AES-256解密 → 验证 → 保存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技术实现</a:t>
            </a:r>
          </a:p>
          <a:p>
            <a:pPr lvl="1">
              <a:spcAft>
                <a:spcPts val="1000"/>
              </a:spcAft>
              <a:defRPr sz="1800"/>
            </a:pPr>
            <a:r>
              <a:t>算法：Fernet（基于AES-128-CBC + HMAC-SHA256）</a:t>
            </a:r>
          </a:p>
          <a:p>
            <a:pPr lvl="1">
              <a:spcAft>
                <a:spcPts val="1000"/>
              </a:spcAft>
              <a:defRPr sz="1800"/>
            </a:pPr>
            <a:r>
              <a:t>密钥管理：security/encryption.key（权限600）</a:t>
            </a:r>
          </a:p>
          <a:p>
            <a:pPr lvl="1">
              <a:spcAft>
                <a:spcPts val="1000"/>
              </a:spcAft>
              <a:defRPr sz="1800"/>
            </a:pPr>
            <a:r>
              <a:t>每次加密生成不同IV（初始化向量）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安全特性</a:t>
            </a:r>
          </a:p>
          <a:p>
            <a:pPr lvl="1">
              <a:spcAft>
                <a:spcPts val="1000"/>
              </a:spcAft>
              <a:defRPr sz="1800"/>
            </a:pPr>
            <a:r>
              <a:t>✅ 对称加密，加解密效率高</a:t>
            </a:r>
          </a:p>
          <a:p>
            <a:pPr lvl="1">
              <a:spcAft>
                <a:spcPts val="1000"/>
              </a:spcAft>
              <a:defRPr sz="1800"/>
            </a:pPr>
            <a:r>
              <a:t>✅ 密钥文件权限保护</a:t>
            </a:r>
          </a:p>
          <a:p>
            <a:pPr lvl="1">
              <a:spcAft>
                <a:spcPts val="1000"/>
              </a:spcAft>
              <a:defRPr sz="1800"/>
            </a:pPr>
            <a:r>
              <a:t>✅ 支持大数据量加密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Redis Streams消息队列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/>
            </a:pPr>
            <a:r>
              <a:t>为什么选择Redis Streams？</a:t>
            </a:r>
          </a:p>
          <a:p>
            <a:pPr lvl="1">
              <a:spcAft>
                <a:spcPts val="1000"/>
              </a:spcAft>
              <a:defRPr sz="1800"/>
            </a:pPr>
            <a:r>
              <a:t>✅ 轻量级，无需额外部署RabbitMQ/Kafka</a:t>
            </a:r>
          </a:p>
          <a:p>
            <a:pPr lvl="1">
              <a:spcAft>
                <a:spcPts val="1000"/>
              </a:spcAft>
              <a:defRPr sz="1800"/>
            </a:pPr>
            <a:r>
              <a:t>✅ 支持消费者组（Consumer Groups）</a:t>
            </a:r>
          </a:p>
          <a:p>
            <a:pPr lvl="1">
              <a:spcAft>
                <a:spcPts val="1000"/>
              </a:spcAft>
              <a:defRPr sz="1800"/>
            </a:pPr>
            <a:r>
              <a:t>✅ 消息持久化，支持ACK确认机制</a:t>
            </a:r>
          </a:p>
          <a:p>
            <a:pPr lvl="1">
              <a:spcAft>
                <a:spcPts val="1000"/>
              </a:spcAft>
              <a:defRPr sz="1800"/>
            </a:pPr>
            <a:r>
              <a:t>✅ 高性能，低延迟（&lt;10ms）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Stream类型</a:t>
            </a:r>
          </a:p>
          <a:p>
            <a:pPr lvl="1">
              <a:spcAft>
                <a:spcPts val="1000"/>
              </a:spcAft>
              <a:defRPr sz="1800"/>
            </a:pPr>
            <a:r>
              <a:t>• sensor:raw - 原始传感器数据</a:t>
            </a:r>
          </a:p>
          <a:p>
            <a:pPr lvl="1">
              <a:spcAft>
                <a:spcPts val="1000"/>
              </a:spcAft>
              <a:defRPr sz="1800"/>
            </a:pPr>
            <a:r>
              <a:t>• sensor:validated - 验证后数据</a:t>
            </a:r>
          </a:p>
          <a:p>
            <a:pPr lvl="1">
              <a:spcAft>
                <a:spcPts val="1000"/>
              </a:spcAft>
              <a:defRPr sz="1800"/>
            </a:pPr>
            <a:r>
              <a:t>• sensor:write - 待写入数据</a:t>
            </a:r>
          </a:p>
          <a:p>
            <a:pPr lvl="1">
              <a:spcAft>
                <a:spcPts val="1000"/>
              </a:spcAft>
              <a:defRPr sz="1800"/>
            </a:pPr>
            <a:r>
              <a:t>• sensor:logs - 日志数据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 b="1">
                <a:solidFill>
                  <a:srgbClr val="4CAF50"/>
                </a:solidFill>
              </a:defRPr>
            </a:pPr>
            <a:r>
              <a:t>模拟器：simulator_mq.py 实时发布数据到Redis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2196F3"/>
                </a:solidFill>
              </a:defRPr>
            </a:pPr>
            <a:r>
              <a:t>压力测试结果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18288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测试场景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并发线程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QPS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成功率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平均响应时间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单机测试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10线程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58ms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单机测试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15线程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75ms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多机测试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3台PC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350+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&lt;100ms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性能优化关键技术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/>
            </a:pPr>
            <a:r>
              <a:t>Gunicorn高性能配置</a:t>
            </a:r>
          </a:p>
          <a:p>
            <a:pPr lvl="1">
              <a:spcAft>
                <a:spcPts val="1000"/>
              </a:spcAft>
              <a:defRPr sz="1800"/>
            </a:pPr>
            <a:r>
              <a:t>workers = 8（2*CPU核数+1）</a:t>
            </a:r>
          </a:p>
          <a:p>
            <a:pPr lvl="1">
              <a:spcAft>
                <a:spcPts val="1000"/>
              </a:spcAft>
              <a:defRPr sz="1800"/>
            </a:pPr>
            <a:r>
              <a:t>worker_class = 'gevent'（异步协程）</a:t>
            </a:r>
          </a:p>
          <a:p>
            <a:pPr lvl="1">
              <a:spcAft>
                <a:spcPts val="1000"/>
              </a:spcAft>
              <a:defRPr sz="1800"/>
            </a:pPr>
            <a:r>
              <a:t>worker_connections = 1000</a:t>
            </a:r>
          </a:p>
          <a:p>
            <a:pPr lvl="1">
              <a:spcAft>
                <a:spcPts val="1000"/>
              </a:spcAft>
              <a:defRPr sz="1800"/>
            </a:pPr>
            <a:r>
              <a:t>backlog = 4096（TCP监听队列）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异步日志系统</a:t>
            </a:r>
          </a:p>
          <a:p>
            <a:pPr lvl="1">
              <a:spcAft>
                <a:spcPts val="1000"/>
              </a:spcAft>
              <a:defRPr sz="1800"/>
            </a:pPr>
            <a:r>
              <a:t>独立线程处理日志I/O，零阻塞主线程</a:t>
            </a:r>
          </a:p>
          <a:p>
            <a:pPr lvl="1">
              <a:spcAft>
                <a:spcPts val="1000"/>
              </a:spcAft>
              <a:defRPr sz="1800"/>
            </a:pPr>
            <a:r>
              <a:t>10%采样率，减少90%日志输出量</a:t>
            </a:r>
          </a:p>
          <a:p>
            <a:pPr lvl="1">
              <a:spcAft>
                <a:spcPts val="1000"/>
              </a:spcAft>
              <a:defRPr sz="1800"/>
            </a:pPr>
            <a:r>
              <a:t>结构化JSON日志，便于ELK分析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其他优化</a:t>
            </a:r>
          </a:p>
          <a:p>
            <a:pPr lvl="1">
              <a:spcAft>
                <a:spcPts val="1000"/>
              </a:spcAft>
              <a:defRPr sz="1800"/>
            </a:pPr>
            <a:r>
              <a:t>慢请求检测（&gt;100ms告警）、线程安全统计、日志轮转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2800" b="1">
                <a:solidFill>
                  <a:srgbClr val="2196F3"/>
                </a:solidFill>
              </a:defRPr>
            </a:pPr>
            <a:r>
              <a:t>系统运行状态展示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646464"/>
                </a:solidFill>
              </a:defRPr>
            </a:pPr>
            <a:r>
              <a:t>所有服务正常运行，数据持续接收中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323232"/>
                </a:solidFill>
                <a:latin typeface="Consolas"/>
              </a:defRPr>
            </a:pPr>
            <a:r>
              <a:t># 服务进程</a:t>
            </a:r>
            <a:br/>
            <a:r>
              <a:t>$ ps aux | grep gunicorn</a:t>
            </a:r>
            <a:br/>
            <a:r>
              <a:t>root  1009814  gunicorn master (8 workers running)</a:t>
            </a:r>
            <a:br/>
            <a:br/>
            <a:r>
              <a:t># 健康检查</a:t>
            </a:r>
            <a:br/>
            <a:r>
              <a:t>$ curl http://47.103.108.47:5000/api/health</a:t>
            </a:r>
            <a:br/>
            <a:r>
              <a:t>{</a:t>
            </a:r>
            <a:br/>
            <a:r>
              <a:t>  "status": "healthy",</a:t>
            </a:r>
            <a:br/>
            <a:r>
              <a:t>  "service": "Flask Data Server v3.0",</a:t>
            </a:r>
            <a:br/>
            <a:r>
              <a:t>  "features": ["JWT Auth", "API Key", "AES Encryption"]</a:t>
            </a:r>
            <a:br/>
            <a:r>
              <a:t>}</a:t>
            </a:r>
            <a:br/>
            <a:br/>
            <a:r>
              <a:t># Redis状态</a:t>
            </a:r>
            <a:br/>
            <a:r>
              <a:t>$ redis-cli ping</a:t>
            </a:r>
            <a:br/>
            <a:r>
              <a:t>PONG</a:t>
            </a:r>
            <a:br/>
            <a:br/>
            <a:r>
              <a:t># 数据统计</a:t>
            </a:r>
            <a:br/>
            <a:r>
              <a:t>$ curl http://47.103.108.47:5000/api/stats</a:t>
            </a:r>
            <a:br/>
            <a:r>
              <a:t>{</a:t>
            </a:r>
            <a:br/>
            <a:r>
              <a:t>  "total_requests": 15234,</a:t>
            </a:r>
            <a:br/>
            <a:r>
              <a:t>  "version": "3.0.0"</a:t>
            </a:r>
            <a:br/>
            <a:r>
              <a:t>}</a:t>
            </a:r>
            <a:br/>
            <a:br/>
            <a:r>
              <a:t># 数据文件</a:t>
            </a:r>
            <a:br/>
            <a:r>
              <a:t>$ ls data/*/ | wc -l</a:t>
            </a:r>
            <a:br/>
            <a:r>
              <a:t>15234  # 已接收15000+条数据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08792" cy="429768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2196F3"/>
                </a:solidFill>
              </a:defRPr>
            </a:pPr>
            <a:r>
              <a:t>完善的文档体系（20+文档）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文档类型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文件名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 anchor="t">
                    <a:solidFill>
                      <a:srgbClr val="219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API文档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 接口文档.md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中文接口说明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OpenAPI规范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swagger.json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Swagger UI集成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Postman集合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postman_collection.json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一键导入测试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快速开始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QUICK_REFERENCE.md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快速上手指南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部署指南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DEPLOYMENT_SUMMARY.md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部署步骤详解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压力测试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PRESSURE_TEST_GUIDE.md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压测方法与结果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最佳实践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BEST_PRACTICES.md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开发规范与建议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任务报告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WEEK5_TASK_COMPLETION_REPORT.md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第五周任务总结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项目创新亮点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>
                <a:solidFill>
                  <a:srgbClr val="2196F3"/>
                </a:solidFill>
              </a:defRPr>
            </a:pPr>
            <a:r>
              <a:t>🎯 多层安全架构</a:t>
            </a:r>
          </a:p>
          <a:p>
            <a:pPr lvl="1">
              <a:spcAft>
                <a:spcPts val="1000"/>
              </a:spcAft>
              <a:defRPr sz="1800"/>
            </a:pPr>
            <a:r>
              <a:t>JWT + API Key + AES加密 + 速率限制四重防护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>
                <a:solidFill>
                  <a:srgbClr val="2196F3"/>
                </a:solidFill>
              </a:defRPr>
            </a:pPr>
            <a:r>
              <a:t>🚀 高性能设计</a:t>
            </a:r>
          </a:p>
          <a:p>
            <a:pPr lvl="1">
              <a:spcAft>
                <a:spcPts val="1000"/>
              </a:spcAft>
              <a:defRPr sz="1800"/>
            </a:pPr>
            <a:r>
              <a:t>异步日志 + Gunicorn多进程，QPS提升20倍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>
                <a:solidFill>
                  <a:srgbClr val="2196F3"/>
                </a:solidFill>
              </a:defRPr>
            </a:pPr>
            <a:r>
              <a:t>📨 消息队列解耦</a:t>
            </a:r>
          </a:p>
          <a:p>
            <a:pPr lvl="1">
              <a:spcAft>
                <a:spcPts val="1000"/>
              </a:spcAft>
              <a:defRPr sz="1800"/>
            </a:pPr>
            <a:r>
              <a:t>Redis Streams实现可靠异步传输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>
                <a:solidFill>
                  <a:srgbClr val="2196F3"/>
                </a:solidFill>
              </a:defRPr>
            </a:pPr>
            <a:r>
              <a:t>📦 模块化架构</a:t>
            </a:r>
          </a:p>
          <a:p>
            <a:pPr lvl="1">
              <a:spcAft>
                <a:spcPts val="1000"/>
              </a:spcAft>
              <a:defRPr sz="1800"/>
            </a:pPr>
            <a:r>
              <a:t>receiver/validator/writer/logger清晰分离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>
                <a:solidFill>
                  <a:srgbClr val="2196F3"/>
                </a:solidFill>
              </a:defRPr>
            </a:pPr>
            <a:r>
              <a:t>📚 完整文档体系</a:t>
            </a:r>
          </a:p>
          <a:p>
            <a:pPr lvl="1">
              <a:spcAft>
                <a:spcPts val="1000"/>
              </a:spcAft>
              <a:defRPr sz="1800"/>
            </a:pPr>
            <a:r>
              <a:t>API文档、部署指南、压测报告等20+文档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后续改进规划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/>
            </a:pPr>
            <a:r>
              <a:t>短期计划（1-2周）</a:t>
            </a:r>
          </a:p>
          <a:p>
            <a:pPr lvl="1">
              <a:spcAft>
                <a:spcPts val="1000"/>
              </a:spcAft>
              <a:defRPr sz="1800"/>
            </a:pPr>
            <a:r>
              <a:t>□ 申请免费SSL证书（Let's Encrypt），启用HTTPS</a:t>
            </a:r>
          </a:p>
          <a:p>
            <a:pPr lvl="1">
              <a:spcAft>
                <a:spcPts val="1000"/>
              </a:spcAft>
              <a:defRPr sz="1800"/>
            </a:pPr>
            <a:r>
              <a:t>□ 添加数据库支持（MySQL/PostgreSQL）替代文件存储</a:t>
            </a:r>
          </a:p>
          <a:p>
            <a:pPr lvl="1">
              <a:spcAft>
                <a:spcPts val="1000"/>
              </a:spcAft>
              <a:defRPr sz="1800"/>
            </a:pPr>
            <a:r>
              <a:t>□ 实现数据查询API（按时间范围、类型筛选）</a:t>
            </a:r>
          </a:p>
          <a:p>
            <a:pPr lvl="1">
              <a:spcAft>
                <a:spcPts val="1000"/>
              </a:spcAft>
              <a:defRPr sz="1800"/>
            </a:pPr>
            <a:r>
              <a:t>□ 增加数据可视化Dashboard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中期计划（1-2月）</a:t>
            </a:r>
          </a:p>
          <a:p>
            <a:pPr lvl="1">
              <a:spcAft>
                <a:spcPts val="1000"/>
              </a:spcAft>
              <a:defRPr sz="1800"/>
            </a:pPr>
            <a:r>
              <a:t>□ 支持更多传感器类型（心率、血压等）</a:t>
            </a:r>
          </a:p>
          <a:p>
            <a:pPr lvl="1">
              <a:spcAft>
                <a:spcPts val="1000"/>
              </a:spcAft>
              <a:defRPr sz="1800"/>
            </a:pPr>
            <a:r>
              <a:t>□ 实现数据聚合与统计分析</a:t>
            </a:r>
          </a:p>
          <a:p>
            <a:pPr lvl="1">
              <a:spcAft>
                <a:spcPts val="1000"/>
              </a:spcAft>
              <a:defRPr sz="1800"/>
            </a:pPr>
            <a:r>
              <a:t>□ 添加告警机制（异常数据通知）</a:t>
            </a:r>
          </a:p>
          <a:p>
            <a:pPr lvl="1">
              <a:spcAft>
                <a:spcPts val="1000"/>
              </a:spcAft>
              <a:defRPr sz="1800"/>
            </a:pPr>
            <a:r>
              <a:t>□ Docker容器化部署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200" b="1"/>
            </a:pPr>
            <a:r>
              <a:t>长期愿景</a:t>
            </a:r>
          </a:p>
          <a:p>
            <a:pPr lvl="1">
              <a:spcAft>
                <a:spcPts val="1000"/>
              </a:spcAft>
              <a:defRPr sz="1800"/>
            </a:pPr>
            <a:r>
              <a:t>□ 微服务架构拆分 • Kubernetes集群 • ML数据分析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验收总结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 b="1">
                <a:solidFill>
                  <a:srgbClr val="4CAF50"/>
                </a:solidFill>
              </a:defRPr>
            </a:pPr>
            <a:r>
              <a:t>完成情况</a:t>
            </a:r>
          </a:p>
          <a:p>
            <a:pPr lvl="1">
              <a:spcAft>
                <a:spcPts val="1000"/>
              </a:spcAft>
              <a:defRPr sz="2000"/>
            </a:pPr>
            <a:r>
              <a:t>✅ 核心功能100%完成（7/7必选项）</a:t>
            </a:r>
          </a:p>
          <a:p>
            <a:pPr lvl="1">
              <a:spcAft>
                <a:spcPts val="1000"/>
              </a:spcAft>
              <a:defRPr sz="2000"/>
            </a:pPr>
            <a:r>
              <a:t>✅ 性能指标超出预期（QPS 200+ vs 目标100）</a:t>
            </a:r>
          </a:p>
          <a:p>
            <a:pPr lvl="1">
              <a:spcAft>
                <a:spcPts val="1000"/>
              </a:spcAft>
              <a:defRPr sz="2000"/>
            </a:pPr>
            <a:r>
              <a:t>✅ 文档完整齐全（20+技术文档）</a:t>
            </a:r>
          </a:p>
          <a:p>
            <a:pPr lvl="1">
              <a:spcAft>
                <a:spcPts val="1000"/>
              </a:spcAft>
              <a:defRPr sz="2000"/>
            </a:pPr>
            <a:r>
              <a:t>✅ 代码质量优秀（模块化、注释完善）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400" b="1">
                <a:solidFill>
                  <a:srgbClr val="4CAF50"/>
                </a:solidFill>
              </a:defRPr>
            </a:pPr>
            <a:r>
              <a:t>技术指标达成</a:t>
            </a:r>
          </a:p>
          <a:p>
            <a:pPr lvl="1">
              <a:spcAft>
                <a:spcPts val="1000"/>
              </a:spcAft>
              <a:defRPr sz="2000"/>
            </a:pPr>
            <a:r>
              <a:t>• API接口：12个（目标≥5个）→ 240%</a:t>
            </a:r>
          </a:p>
          <a:p>
            <a:pPr lvl="1">
              <a:spcAft>
                <a:spcPts val="1000"/>
              </a:spcAft>
              <a:defRPr sz="2000"/>
            </a:pPr>
            <a:r>
              <a:t>• 鉴权方式：2种（JWT + API Key）→ 200%</a:t>
            </a:r>
          </a:p>
          <a:p>
            <a:pPr lvl="1">
              <a:spcAft>
                <a:spcPts val="1000"/>
              </a:spcAft>
              <a:defRPr sz="2000"/>
            </a:pPr>
            <a:r>
              <a:t>• 压力测试：QPS 200+（目标≥100）→ 200%</a:t>
            </a:r>
          </a:p>
          <a:p>
            <a:pPr lvl="1">
              <a:spcAft>
                <a:spcPts val="1000"/>
              </a:spcAft>
              <a:defRPr sz="2000"/>
            </a:pPr>
            <a:r>
              <a:t>• 成功率：100%（无失败请求）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800" b="1">
                <a:solidFill>
                  <a:srgbClr val="2196F3"/>
                </a:solidFill>
              </a:defRPr>
            </a:pPr>
            <a:r>
              <a:t>感谢各位老师聆听！</a:t>
            </a:r>
          </a:p>
          <a:p>
            <a:pPr>
              <a:spcAft>
                <a:spcPts val="1000"/>
              </a:spcAft>
              <a:defRPr sz="2200"/>
            </a:pPr>
            <a:r>
              <a:t>欢迎提问与交流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